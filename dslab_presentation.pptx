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4"/>
  </p:sldMasterIdLst>
  <p:notesMasterIdLst>
    <p:notesMasterId r:id="rId18"/>
  </p:notesMasterIdLst>
  <p:handoutMasterIdLst>
    <p:handoutMasterId r:id="rId19"/>
  </p:handoutMasterIdLst>
  <p:sldIdLst>
    <p:sldId id="292" r:id="rId5"/>
    <p:sldId id="287" r:id="rId6"/>
    <p:sldId id="293" r:id="rId7"/>
    <p:sldId id="266" r:id="rId8"/>
    <p:sldId id="297" r:id="rId9"/>
    <p:sldId id="295" r:id="rId10"/>
    <p:sldId id="283" r:id="rId11"/>
    <p:sldId id="264" r:id="rId12"/>
    <p:sldId id="289" r:id="rId13"/>
    <p:sldId id="268" r:id="rId14"/>
    <p:sldId id="296" r:id="rId15"/>
    <p:sldId id="285" r:id="rId16"/>
    <p:sldId id="29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5359"/>
    <a:srgbClr val="969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0518" autoAdjust="0"/>
  </p:normalViewPr>
  <p:slideViewPr>
    <p:cSldViewPr snapToGrid="0" showGuides="1">
      <p:cViewPr varScale="1">
        <p:scale>
          <a:sx n="102" d="100"/>
          <a:sy n="102" d="100"/>
        </p:scale>
        <p:origin x="296" y="84"/>
      </p:cViewPr>
      <p:guideLst/>
    </p:cSldViewPr>
  </p:slideViewPr>
  <p:outlineViewPr>
    <p:cViewPr>
      <p:scale>
        <a:sx n="33" d="100"/>
        <a:sy n="33" d="100"/>
      </p:scale>
      <p:origin x="0" y="-49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C3C3A6-B337-4D83-9CDB-B9C35780FF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C79A68-3D73-4695-8C1E-3CDBCB536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C6B7-F63D-48F8-8C65-A57506B0F13B}" type="datetimeFigureOut">
              <a:rPr lang="en-US" smtClean="0"/>
              <a:t>11-Jul-26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5045C-A7CE-41D4-85C5-0E9ACEEF9B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ABD0F-F8EA-4B9F-8647-FC7D4AE3D8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B78DD-9481-4863-BCCC-946573546DA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0403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09A0FA-2191-4F92-A1E4-6EB4598AC4EC}" type="datetimeFigureOut">
              <a:rPr lang="en-US" smtClean="0"/>
              <a:t>11-Jul-26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359F2-43EF-4812-9DC0-98C0B1A4068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11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8502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803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7043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574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CCEB8-2B12-B0B2-B698-1912915E4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6349CB-5DA4-37E6-5D0D-DF1DBD52E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9976BF-60AB-8D08-359E-72BC2465D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96CC54-BECE-9C3B-1CA9-CFC24063D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0213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7931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0271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289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70239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6703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07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3197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464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66156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5753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14896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6149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91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9753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2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8907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643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330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3988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26BD44-2224-46FF-A4E7-9C9FFE19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79"/>
            <a:ext cx="3657600" cy="2100851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C87D77D-2EA4-028B-1ACF-E1120CE8F0E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7201" y="2862470"/>
            <a:ext cx="3657600" cy="3510898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CFA45C0-9EBE-13AF-9B5D-9D5F4BF223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2815" y="640080"/>
            <a:ext cx="7491984" cy="5751576"/>
          </a:xfrm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5DDC5FA-EEDB-898F-533E-4094ADA899B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79B0359-4B55-D899-E584-A8E6B2ED912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B916D02-76FE-EAED-CC51-A50448811F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17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E787D40-90B5-470E-95A2-784F1CB479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9580" y="4423702"/>
            <a:ext cx="11292839" cy="1550378"/>
          </a:xfrm>
        </p:spPr>
        <p:txBody>
          <a:bodyPr>
            <a:noAutofit/>
          </a:bodyPr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28BC27-38F1-47F3-EC35-7DD8B88A75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9580" y="705104"/>
            <a:ext cx="11292840" cy="3643376"/>
          </a:xfrm>
          <a:custGeom>
            <a:avLst/>
            <a:gdLst>
              <a:gd name="connsiteX0" fmla="*/ 7593576 w 11292840"/>
              <a:gd name="connsiteY0" fmla="*/ 0 h 3643376"/>
              <a:gd name="connsiteX1" fmla="*/ 11292840 w 11292840"/>
              <a:gd name="connsiteY1" fmla="*/ 0 h 3643376"/>
              <a:gd name="connsiteX2" fmla="*/ 11292840 w 11292840"/>
              <a:gd name="connsiteY2" fmla="*/ 3643376 h 3643376"/>
              <a:gd name="connsiteX3" fmla="*/ 7593576 w 11292840"/>
              <a:gd name="connsiteY3" fmla="*/ 3643376 h 3643376"/>
              <a:gd name="connsiteX4" fmla="*/ 0 w 11292840"/>
              <a:gd name="connsiteY4" fmla="*/ 0 h 3643376"/>
              <a:gd name="connsiteX5" fmla="*/ 7489667 w 11292840"/>
              <a:gd name="connsiteY5" fmla="*/ 0 h 3643376"/>
              <a:gd name="connsiteX6" fmla="*/ 7489667 w 11292840"/>
              <a:gd name="connsiteY6" fmla="*/ 3643376 h 3643376"/>
              <a:gd name="connsiteX7" fmla="*/ 0 w 11292840"/>
              <a:gd name="connsiteY7" fmla="*/ 3643376 h 3643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92840" h="3643376">
                <a:moveTo>
                  <a:pt x="7593576" y="0"/>
                </a:moveTo>
                <a:lnTo>
                  <a:pt x="11292840" y="0"/>
                </a:lnTo>
                <a:lnTo>
                  <a:pt x="11292840" y="3643376"/>
                </a:lnTo>
                <a:lnTo>
                  <a:pt x="7593576" y="3643376"/>
                </a:lnTo>
                <a:close/>
                <a:moveTo>
                  <a:pt x="0" y="0"/>
                </a:moveTo>
                <a:lnTo>
                  <a:pt x="7489667" y="0"/>
                </a:lnTo>
                <a:lnTo>
                  <a:pt x="7489667" y="3643376"/>
                </a:lnTo>
                <a:lnTo>
                  <a:pt x="0" y="36433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3343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2" y="629920"/>
            <a:ext cx="3606800" cy="2809240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6881" y="3698240"/>
            <a:ext cx="3606800" cy="2271076"/>
          </a:xfrm>
        </p:spPr>
        <p:txBody>
          <a:bodyPr anchor="t">
            <a:no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2608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54FD2A1-D363-7C44-2A72-54E8B397D3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36720" y="650240"/>
            <a:ext cx="7518398" cy="5713918"/>
          </a:xfrm>
          <a:custGeom>
            <a:avLst/>
            <a:gdLst>
              <a:gd name="connsiteX0" fmla="*/ 3806436 w 7518398"/>
              <a:gd name="connsiteY0" fmla="*/ 4479475 h 5713918"/>
              <a:gd name="connsiteX1" fmla="*/ 7518398 w 7518398"/>
              <a:gd name="connsiteY1" fmla="*/ 4479475 h 5713918"/>
              <a:gd name="connsiteX2" fmla="*/ 7518398 w 7518398"/>
              <a:gd name="connsiteY2" fmla="*/ 5713918 h 5713918"/>
              <a:gd name="connsiteX3" fmla="*/ 3806436 w 7518398"/>
              <a:gd name="connsiteY3" fmla="*/ 5713918 h 5713918"/>
              <a:gd name="connsiteX4" fmla="*/ 0 w 7518398"/>
              <a:gd name="connsiteY4" fmla="*/ 4479475 h 5713918"/>
              <a:gd name="connsiteX5" fmla="*/ 3702527 w 7518398"/>
              <a:gd name="connsiteY5" fmla="*/ 4479475 h 5713918"/>
              <a:gd name="connsiteX6" fmla="*/ 3702527 w 7518398"/>
              <a:gd name="connsiteY6" fmla="*/ 5713918 h 5713918"/>
              <a:gd name="connsiteX7" fmla="*/ 0 w 7518398"/>
              <a:gd name="connsiteY7" fmla="*/ 5713918 h 5713918"/>
              <a:gd name="connsiteX8" fmla="*/ 3806436 w 7518398"/>
              <a:gd name="connsiteY8" fmla="*/ 0 h 5713918"/>
              <a:gd name="connsiteX9" fmla="*/ 7518398 w 7518398"/>
              <a:gd name="connsiteY9" fmla="*/ 0 h 5713918"/>
              <a:gd name="connsiteX10" fmla="*/ 7518398 w 7518398"/>
              <a:gd name="connsiteY10" fmla="*/ 4379183 h 5713918"/>
              <a:gd name="connsiteX11" fmla="*/ 3806436 w 7518398"/>
              <a:gd name="connsiteY11" fmla="*/ 4379183 h 5713918"/>
              <a:gd name="connsiteX12" fmla="*/ 0 w 7518398"/>
              <a:gd name="connsiteY12" fmla="*/ 0 h 5713918"/>
              <a:gd name="connsiteX13" fmla="*/ 3702527 w 7518398"/>
              <a:gd name="connsiteY13" fmla="*/ 0 h 5713918"/>
              <a:gd name="connsiteX14" fmla="*/ 3702527 w 7518398"/>
              <a:gd name="connsiteY14" fmla="*/ 4379183 h 5713918"/>
              <a:gd name="connsiteX15" fmla="*/ 0 w 7518398"/>
              <a:gd name="connsiteY15" fmla="*/ 4379183 h 5713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18398" h="5713918">
                <a:moveTo>
                  <a:pt x="3806436" y="4479475"/>
                </a:moveTo>
                <a:lnTo>
                  <a:pt x="7518398" y="4479475"/>
                </a:lnTo>
                <a:lnTo>
                  <a:pt x="7518398" y="5713918"/>
                </a:lnTo>
                <a:lnTo>
                  <a:pt x="3806436" y="5713918"/>
                </a:lnTo>
                <a:close/>
                <a:moveTo>
                  <a:pt x="0" y="4479475"/>
                </a:moveTo>
                <a:lnTo>
                  <a:pt x="3702527" y="4479475"/>
                </a:lnTo>
                <a:lnTo>
                  <a:pt x="3702527" y="5713918"/>
                </a:lnTo>
                <a:lnTo>
                  <a:pt x="0" y="5713918"/>
                </a:lnTo>
                <a:close/>
                <a:moveTo>
                  <a:pt x="3806436" y="0"/>
                </a:moveTo>
                <a:lnTo>
                  <a:pt x="7518398" y="0"/>
                </a:lnTo>
                <a:lnTo>
                  <a:pt x="7518398" y="4379183"/>
                </a:lnTo>
                <a:lnTo>
                  <a:pt x="3806436" y="4379183"/>
                </a:lnTo>
                <a:close/>
                <a:moveTo>
                  <a:pt x="0" y="0"/>
                </a:moveTo>
                <a:lnTo>
                  <a:pt x="3702527" y="0"/>
                </a:lnTo>
                <a:lnTo>
                  <a:pt x="3702527" y="4379183"/>
                </a:lnTo>
                <a:lnTo>
                  <a:pt x="0" y="4379183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7795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9CC542F-D03C-4537-9B6E-7F653B6515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878091"/>
            <a:ext cx="3729789" cy="3440485"/>
          </a:xfrm>
        </p:spPr>
        <p:txBody>
          <a:bodyPr tIns="182880" bIns="182880" anchor="ctr" anchorCtr="0">
            <a:noAutofit/>
          </a:bodyPr>
          <a:lstStyle/>
          <a:p>
            <a:r>
              <a:rPr lang="en-US" dirty="0"/>
              <a:t>Click to add title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0F1D2B-CBE7-6279-2158-7A9F3B5D5C6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57200" y="670560"/>
            <a:ext cx="11267440" cy="2139696"/>
          </a:xfrm>
          <a:custGeom>
            <a:avLst/>
            <a:gdLst>
              <a:gd name="connsiteX0" fmla="*/ 3783068 w 11267440"/>
              <a:gd name="connsiteY0" fmla="*/ 0 h 2139696"/>
              <a:gd name="connsiteX1" fmla="*/ 11267440 w 11267440"/>
              <a:gd name="connsiteY1" fmla="*/ 0 h 2139696"/>
              <a:gd name="connsiteX2" fmla="*/ 11267440 w 11267440"/>
              <a:gd name="connsiteY2" fmla="*/ 2139696 h 2139696"/>
              <a:gd name="connsiteX3" fmla="*/ 3783068 w 11267440"/>
              <a:gd name="connsiteY3" fmla="*/ 2139696 h 2139696"/>
              <a:gd name="connsiteX4" fmla="*/ 0 w 11267440"/>
              <a:gd name="connsiteY4" fmla="*/ 0 h 2139696"/>
              <a:gd name="connsiteX5" fmla="*/ 3677799 w 11267440"/>
              <a:gd name="connsiteY5" fmla="*/ 0 h 2139696"/>
              <a:gd name="connsiteX6" fmla="*/ 3677799 w 11267440"/>
              <a:gd name="connsiteY6" fmla="*/ 2139696 h 2139696"/>
              <a:gd name="connsiteX7" fmla="*/ 0 w 11267440"/>
              <a:gd name="connsiteY7" fmla="*/ 2139696 h 2139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67440" h="2139696">
                <a:moveTo>
                  <a:pt x="3783068" y="0"/>
                </a:moveTo>
                <a:lnTo>
                  <a:pt x="11267440" y="0"/>
                </a:lnTo>
                <a:lnTo>
                  <a:pt x="11267440" y="2139696"/>
                </a:lnTo>
                <a:lnTo>
                  <a:pt x="3783068" y="2139696"/>
                </a:lnTo>
                <a:close/>
                <a:moveTo>
                  <a:pt x="0" y="0"/>
                </a:moveTo>
                <a:lnTo>
                  <a:pt x="3677799" y="0"/>
                </a:lnTo>
                <a:lnTo>
                  <a:pt x="3677799" y="2139696"/>
                </a:lnTo>
                <a:lnTo>
                  <a:pt x="0" y="213969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135EE74D-5A60-B83C-5C2D-7B6FEA778FC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305827" y="2878091"/>
            <a:ext cx="7418813" cy="3440485"/>
          </a:xfrm>
        </p:spPr>
        <p:txBody>
          <a:bodyPr anchor="ctr" anchorCtr="0">
            <a:normAutofit/>
          </a:bodyPr>
          <a:lstStyle>
            <a:lvl1pPr marL="283464" indent="-283464">
              <a:buFont typeface="Arial" panose="020B0604020202020204" pitchFamily="34" charset="0"/>
              <a:buChar char="•"/>
              <a:defRPr/>
            </a:lvl1pPr>
            <a:lvl2pPr marL="283464" indent="-283464">
              <a:buFont typeface="Arial" panose="020B0604020202020204" pitchFamily="34" charset="0"/>
              <a:buChar char="•"/>
              <a:defRPr/>
            </a:lvl2pPr>
            <a:lvl3pPr marL="283464" indent="-283464">
              <a:buFont typeface="Arial" panose="020B0604020202020204" pitchFamily="34" charset="0"/>
              <a:buChar char="•"/>
              <a:defRPr/>
            </a:lvl3pPr>
            <a:lvl4pPr marL="283464" indent="-283464">
              <a:buFont typeface="Arial" panose="020B0604020202020204" pitchFamily="34" charset="0"/>
              <a:buChar char="•"/>
              <a:defRPr/>
            </a:lvl4pPr>
            <a:lvl5pPr marL="283464" indent="-283464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BCF1FAD-0BAD-2574-3352-B152DF76C1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C328E41-645E-D257-FFF3-93344A8E4FA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EF9E45A-6561-C074-14CE-B3B63476D2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67213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583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3000"/>
            <a:ext cx="9144000" cy="2585720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9840"/>
            <a:ext cx="9144000" cy="2052320"/>
          </a:xfrm>
        </p:spPr>
        <p:txBody>
          <a:bodyPr anchor="t">
            <a:no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96853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CA520B1-DC84-A47D-1F5E-CCD567EB2D8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457200" y="2187362"/>
            <a:ext cx="3657600" cy="3633047"/>
          </a:xfrm>
        </p:spPr>
        <p:txBody>
          <a:bodyPr anchor="t"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282437" y="2187361"/>
            <a:ext cx="744220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8338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8219" y="741363"/>
            <a:ext cx="5626579" cy="1286219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CBE840D-FAED-31D9-AF31-112670D0FA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761684"/>
            <a:ext cx="5171440" cy="5662230"/>
          </a:xfrm>
          <a:custGeom>
            <a:avLst/>
            <a:gdLst>
              <a:gd name="connsiteX0" fmla="*/ 0 w 5171440"/>
              <a:gd name="connsiteY0" fmla="*/ 5056400 h 5662230"/>
              <a:gd name="connsiteX1" fmla="*/ 3685975 w 5171440"/>
              <a:gd name="connsiteY1" fmla="*/ 5056400 h 5662230"/>
              <a:gd name="connsiteX2" fmla="*/ 3685975 w 5171440"/>
              <a:gd name="connsiteY2" fmla="*/ 5662230 h 5662230"/>
              <a:gd name="connsiteX3" fmla="*/ 0 w 5171440"/>
              <a:gd name="connsiteY3" fmla="*/ 5662230 h 5662230"/>
              <a:gd name="connsiteX4" fmla="*/ 3789884 w 5171440"/>
              <a:gd name="connsiteY4" fmla="*/ 0 h 5662230"/>
              <a:gd name="connsiteX5" fmla="*/ 5171440 w 5171440"/>
              <a:gd name="connsiteY5" fmla="*/ 0 h 5662230"/>
              <a:gd name="connsiteX6" fmla="*/ 5171440 w 5171440"/>
              <a:gd name="connsiteY6" fmla="*/ 5662230 h 5662230"/>
              <a:gd name="connsiteX7" fmla="*/ 3789884 w 5171440"/>
              <a:gd name="connsiteY7" fmla="*/ 5662230 h 5662230"/>
              <a:gd name="connsiteX8" fmla="*/ 3789884 w 5171440"/>
              <a:gd name="connsiteY8" fmla="*/ 5056400 h 5662230"/>
              <a:gd name="connsiteX9" fmla="*/ 5168980 w 5171440"/>
              <a:gd name="connsiteY9" fmla="*/ 5056400 h 5662230"/>
              <a:gd name="connsiteX10" fmla="*/ 5168980 w 5171440"/>
              <a:gd name="connsiteY10" fmla="*/ 4956108 h 5662230"/>
              <a:gd name="connsiteX11" fmla="*/ 3789884 w 5171440"/>
              <a:gd name="connsiteY11" fmla="*/ 4956108 h 5662230"/>
              <a:gd name="connsiteX12" fmla="*/ 0 w 5171440"/>
              <a:gd name="connsiteY12" fmla="*/ 0 h 5662230"/>
              <a:gd name="connsiteX13" fmla="*/ 3685975 w 5171440"/>
              <a:gd name="connsiteY13" fmla="*/ 0 h 5662230"/>
              <a:gd name="connsiteX14" fmla="*/ 3685975 w 5171440"/>
              <a:gd name="connsiteY14" fmla="*/ 4956108 h 5662230"/>
              <a:gd name="connsiteX15" fmla="*/ 0 w 5171440"/>
              <a:gd name="connsiteY15" fmla="*/ 4956108 h 566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71440" h="5662230">
                <a:moveTo>
                  <a:pt x="0" y="5056400"/>
                </a:moveTo>
                <a:lnTo>
                  <a:pt x="3685975" y="5056400"/>
                </a:lnTo>
                <a:lnTo>
                  <a:pt x="3685975" y="5662230"/>
                </a:lnTo>
                <a:lnTo>
                  <a:pt x="0" y="5662230"/>
                </a:lnTo>
                <a:close/>
                <a:moveTo>
                  <a:pt x="3789884" y="0"/>
                </a:moveTo>
                <a:lnTo>
                  <a:pt x="5171440" y="0"/>
                </a:lnTo>
                <a:lnTo>
                  <a:pt x="5171440" y="5662230"/>
                </a:lnTo>
                <a:lnTo>
                  <a:pt x="3789884" y="5662230"/>
                </a:lnTo>
                <a:lnTo>
                  <a:pt x="3789884" y="5056400"/>
                </a:lnTo>
                <a:lnTo>
                  <a:pt x="5168980" y="5056400"/>
                </a:lnTo>
                <a:lnTo>
                  <a:pt x="5168980" y="4956108"/>
                </a:lnTo>
                <a:lnTo>
                  <a:pt x="3789884" y="4956108"/>
                </a:lnTo>
                <a:close/>
                <a:moveTo>
                  <a:pt x="0" y="0"/>
                </a:moveTo>
                <a:lnTo>
                  <a:pt x="3685975" y="0"/>
                </a:lnTo>
                <a:lnTo>
                  <a:pt x="3685975" y="4956108"/>
                </a:lnTo>
                <a:lnTo>
                  <a:pt x="0" y="4956108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22983C-26B8-DE15-E309-D0E93B8C69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06160" y="2235200"/>
            <a:ext cx="5628639" cy="4188713"/>
          </a:xfrm>
        </p:spPr>
        <p:txBody>
          <a:bodyPr anchor="t" anchorCtr="0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6336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+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40" y="725444"/>
            <a:ext cx="11277600" cy="1044253"/>
          </a:xfrm>
        </p:spPr>
        <p:txBody>
          <a:bodyPr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2245360"/>
            <a:ext cx="3342640" cy="3992880"/>
          </a:xfrm>
        </p:spPr>
        <p:txBody>
          <a:bodyPr anchor="t"/>
          <a:lstStyle>
            <a:lvl1pPr marL="0" indent="0">
              <a:buNone/>
              <a:defRPr/>
            </a:lvl1pPr>
            <a:lvl2pPr marL="324000" indent="0">
              <a:buNone/>
              <a:defRPr/>
            </a:lvl2pPr>
            <a:lvl3pPr marL="630000" indent="0">
              <a:buNone/>
              <a:defRPr/>
            </a:lvl3pPr>
            <a:lvl4pPr marL="1008000" indent="0">
              <a:buNone/>
              <a:defRPr/>
            </a:lvl4pPr>
            <a:lvl5pPr marL="13680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236720" y="2236109"/>
            <a:ext cx="7498080" cy="4002131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2290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2918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57200" y="2318490"/>
            <a:ext cx="737108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E6EDC6B-B9AA-A4D9-A782-C38A0F84F63F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993378" y="2318490"/>
            <a:ext cx="3731262" cy="3633047"/>
          </a:xfrm>
        </p:spPr>
        <p:txBody>
          <a:bodyPr anchor="t">
            <a:normAutofit/>
          </a:bodyPr>
          <a:lstStyle>
            <a:lvl1pPr marL="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8264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705124"/>
            <a:ext cx="11272649" cy="1062716"/>
          </a:xfrm>
        </p:spPr>
        <p:txBody>
          <a:bodyPr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57201" y="2234979"/>
            <a:ext cx="11272648" cy="3969606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71548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2644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0F196A1-2430-4797-B656-A38302FAF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151" y="666984"/>
            <a:ext cx="3672970" cy="2125911"/>
          </a:xfrm>
        </p:spPr>
        <p:txBody>
          <a:bodyPr>
            <a:noAutofit/>
          </a:bodyPr>
          <a:lstStyle>
            <a:lvl1pPr algn="l">
              <a:defRPr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5A0AD703-0A43-5323-CCB2-832D424EF2D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2151" y="2862479"/>
            <a:ext cx="3672970" cy="3491849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noProof="0" dirty="0"/>
              <a:t>Click to add text 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27B629-9CBE-3ECF-2D88-F07AACD0374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31970" y="666985"/>
            <a:ext cx="7497880" cy="5687344"/>
          </a:xfrm>
          <a:custGeom>
            <a:avLst/>
            <a:gdLst>
              <a:gd name="connsiteX0" fmla="*/ 3803282 w 7497880"/>
              <a:gd name="connsiteY0" fmla="*/ 0 h 5687344"/>
              <a:gd name="connsiteX1" fmla="*/ 7497880 w 7497880"/>
              <a:gd name="connsiteY1" fmla="*/ 0 h 5687344"/>
              <a:gd name="connsiteX2" fmla="*/ 7497880 w 7497880"/>
              <a:gd name="connsiteY2" fmla="*/ 4581885 h 5687344"/>
              <a:gd name="connsiteX3" fmla="*/ 3803282 w 7497880"/>
              <a:gd name="connsiteY3" fmla="*/ 4581885 h 5687344"/>
              <a:gd name="connsiteX4" fmla="*/ 0 w 7497880"/>
              <a:gd name="connsiteY4" fmla="*/ 0 h 5687344"/>
              <a:gd name="connsiteX5" fmla="*/ 3699373 w 7497880"/>
              <a:gd name="connsiteY5" fmla="*/ 0 h 5687344"/>
              <a:gd name="connsiteX6" fmla="*/ 3699373 w 7497880"/>
              <a:gd name="connsiteY6" fmla="*/ 4581885 h 5687344"/>
              <a:gd name="connsiteX7" fmla="*/ 2 w 7497880"/>
              <a:gd name="connsiteY7" fmla="*/ 4581885 h 5687344"/>
              <a:gd name="connsiteX8" fmla="*/ 2 w 7497880"/>
              <a:gd name="connsiteY8" fmla="*/ 4679200 h 5687344"/>
              <a:gd name="connsiteX9" fmla="*/ 3699373 w 7497880"/>
              <a:gd name="connsiteY9" fmla="*/ 4679200 h 5687344"/>
              <a:gd name="connsiteX10" fmla="*/ 3699373 w 7497880"/>
              <a:gd name="connsiteY10" fmla="*/ 5679350 h 5687344"/>
              <a:gd name="connsiteX11" fmla="*/ 3803282 w 7497880"/>
              <a:gd name="connsiteY11" fmla="*/ 5679350 h 5687344"/>
              <a:gd name="connsiteX12" fmla="*/ 3803282 w 7497880"/>
              <a:gd name="connsiteY12" fmla="*/ 4679200 h 5687344"/>
              <a:gd name="connsiteX13" fmla="*/ 7497880 w 7497880"/>
              <a:gd name="connsiteY13" fmla="*/ 4679200 h 5687344"/>
              <a:gd name="connsiteX14" fmla="*/ 7497880 w 7497880"/>
              <a:gd name="connsiteY14" fmla="*/ 5687344 h 5687344"/>
              <a:gd name="connsiteX15" fmla="*/ 0 w 7497880"/>
              <a:gd name="connsiteY15" fmla="*/ 5687344 h 5687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497880" h="5687344">
                <a:moveTo>
                  <a:pt x="3803282" y="0"/>
                </a:moveTo>
                <a:lnTo>
                  <a:pt x="7497880" y="0"/>
                </a:lnTo>
                <a:lnTo>
                  <a:pt x="7497880" y="4581885"/>
                </a:lnTo>
                <a:lnTo>
                  <a:pt x="3803282" y="4581885"/>
                </a:lnTo>
                <a:close/>
                <a:moveTo>
                  <a:pt x="0" y="0"/>
                </a:moveTo>
                <a:lnTo>
                  <a:pt x="3699373" y="0"/>
                </a:lnTo>
                <a:lnTo>
                  <a:pt x="3699373" y="4581885"/>
                </a:lnTo>
                <a:lnTo>
                  <a:pt x="2" y="4581885"/>
                </a:lnTo>
                <a:lnTo>
                  <a:pt x="2" y="4679200"/>
                </a:lnTo>
                <a:lnTo>
                  <a:pt x="3699373" y="4679200"/>
                </a:lnTo>
                <a:lnTo>
                  <a:pt x="3699373" y="5679350"/>
                </a:lnTo>
                <a:lnTo>
                  <a:pt x="3803282" y="5679350"/>
                </a:lnTo>
                <a:lnTo>
                  <a:pt x="3803282" y="4679200"/>
                </a:lnTo>
                <a:lnTo>
                  <a:pt x="7497880" y="4679200"/>
                </a:lnTo>
                <a:lnTo>
                  <a:pt x="7497880" y="5687344"/>
                </a:lnTo>
                <a:lnTo>
                  <a:pt x="0" y="5687344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noProof="0" dirty="0"/>
              <a:t>Click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DD7D93-4C4D-E385-9F8C-40536F0BDEA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20XX</a:t>
            </a:r>
            <a:endParaRPr lang="en-US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C99FA72-244D-9DC3-C9B7-E7DAD50A01F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25A4F6F-66FD-CDA5-7F8F-F5FD6382CFC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7734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89231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57D222-120F-E222-DE7E-B44B0BC1863F}"/>
              </a:ext>
            </a:extLst>
          </p:cNvPr>
          <p:cNvGrpSpPr/>
          <p:nvPr userDrawn="1"/>
        </p:nvGrpSpPr>
        <p:grpSpPr>
          <a:xfrm>
            <a:off x="428696" y="482137"/>
            <a:ext cx="11301155" cy="81191"/>
            <a:chOff x="428696" y="482137"/>
            <a:chExt cx="11301155" cy="8119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DF259B-1168-B954-21F8-A08A3C462F3C}"/>
                </a:ext>
              </a:extLst>
            </p:cNvPr>
            <p:cNvSpPr/>
            <p:nvPr/>
          </p:nvSpPr>
          <p:spPr>
            <a:xfrm flipV="1">
              <a:off x="428696" y="482137"/>
              <a:ext cx="3703321" cy="81191"/>
            </a:xfrm>
            <a:prstGeom prst="rect">
              <a:avLst/>
            </a:prstGeom>
            <a:solidFill>
              <a:schemeClr val="accent3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B5A595C-AA3A-9D82-01BB-7810CE5F7A5E}"/>
                </a:ext>
              </a:extLst>
            </p:cNvPr>
            <p:cNvSpPr/>
            <p:nvPr/>
          </p:nvSpPr>
          <p:spPr>
            <a:xfrm flipV="1">
              <a:off x="4235926" y="482137"/>
              <a:ext cx="3703321" cy="81191"/>
            </a:xfrm>
            <a:prstGeom prst="rect">
              <a:avLst/>
            </a:prstGeom>
            <a:solidFill>
              <a:schemeClr val="accent1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78CB63-8F78-566B-8120-9DC73FB7B23B}"/>
                </a:ext>
              </a:extLst>
            </p:cNvPr>
            <p:cNvSpPr/>
            <p:nvPr/>
          </p:nvSpPr>
          <p:spPr>
            <a:xfrm flipV="1">
              <a:off x="8026530" y="482137"/>
              <a:ext cx="3703321" cy="81191"/>
            </a:xfrm>
            <a:prstGeom prst="rect">
              <a:avLst/>
            </a:prstGeom>
            <a:solidFill>
              <a:schemeClr val="accent4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2" r:id="rId12"/>
    <p:sldLayoutId id="2147483813" r:id="rId13"/>
    <p:sldLayoutId id="2147483814" r:id="rId14"/>
    <p:sldLayoutId id="2147483815" r:id="rId15"/>
    <p:sldLayoutId id="2147483816" r:id="rId16"/>
    <p:sldLayoutId id="2147483817" r:id="rId17"/>
    <p:sldLayoutId id="2147483818" r:id="rId18"/>
    <p:sldLayoutId id="2147483819" r:id="rId19"/>
    <p:sldLayoutId id="2147483820" r:id="rId20"/>
    <p:sldLayoutId id="2147483821" r:id="rId21"/>
    <p:sldLayoutId id="2147483822" r:id="rId22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d/e/1FAIpQLSclH8padHr9zwdQVx9YY_yeM_4OqD1OQFvYcYpAQKaqC6Vscg/viewform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.png"/><Relationship Id="rId4" Type="http://schemas.openxmlformats.org/officeDocument/2006/relationships/hyperlink" Target="https://www.nature.com/articles/sdata201811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B23E1E4-7CB2-923B-9D41-672CB85E0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</a:t>
            </a:r>
            <a:r>
              <a:rPr lang="en-US" dirty="0" err="1"/>
              <a:t>BraiN</a:t>
            </a:r>
            <a:r>
              <a:rPr lang="en-US" dirty="0"/>
              <a:t> STROKE SEGMENTATION using U-NET	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667A9A-3428-68BE-D555-0DE1859FDF8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GitHub link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82A692F-79BA-491A-5E90-C84F8A15C92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18011" b="18011"/>
          <a:stretch>
            <a:fillRect/>
          </a:stretch>
        </p:blipFill>
        <p:spPr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rgbClr val="E6C46D"/>
          </a:solidFill>
        </p:spPr>
      </p:pic>
    </p:spTree>
    <p:extLst>
      <p:ext uri="{BB962C8B-B14F-4D97-AF65-F5344CB8AC3E}">
        <p14:creationId xmlns:p14="http://schemas.microsoft.com/office/powerpoint/2010/main" val="220112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D715DBBC-70C2-E94B-9B03-12910F0B54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-10547"/>
            <a:ext cx="5626579" cy="1286219"/>
          </a:xfrm>
        </p:spPr>
        <p:txBody>
          <a:bodyPr/>
          <a:lstStyle/>
          <a:p>
            <a:r>
              <a:rPr lang="en-US" dirty="0"/>
              <a:t>BRAIN STROKE INTRODUCTION</a:t>
            </a:r>
          </a:p>
        </p:txBody>
      </p:sp>
      <p:sp>
        <p:nvSpPr>
          <p:cNvPr id="33" name="Content Placeholder 32">
            <a:extLst>
              <a:ext uri="{FF2B5EF4-FFF2-40B4-BE49-F238E27FC236}">
                <a16:creationId xmlns:a16="http://schemas.microsoft.com/office/drawing/2014/main" id="{D3AEB1C4-FB60-9B8E-5A02-0BCD2B6E55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9288" y="1353424"/>
            <a:ext cx="6263291" cy="1092817"/>
          </a:xfrm>
        </p:spPr>
        <p:txBody>
          <a:bodyPr>
            <a:normAutofit/>
          </a:bodyPr>
          <a:lstStyle/>
          <a:p>
            <a:r>
              <a:rPr lang="en-US" sz="1700" b="1" dirty="0"/>
              <a:t>Neurological deficit </a:t>
            </a:r>
            <a:r>
              <a:rPr lang="en-US" sz="1700" dirty="0"/>
              <a:t>related to an acute focal injury of the central nervous system by a </a:t>
            </a:r>
            <a:r>
              <a:rPr lang="en-US" sz="1700" b="1" dirty="0"/>
              <a:t>vascular cause  </a:t>
            </a:r>
            <a:r>
              <a:rPr lang="en-US" sz="1700" dirty="0"/>
              <a:t>[Sacco et al. 2013]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FDBC68B-C6CE-ED30-7373-849F6C26D98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3364" r="33364"/>
          <a:stretch>
            <a:fillRect/>
          </a:stretch>
        </p:blipFill>
        <p:spPr>
          <a:xfrm>
            <a:off x="457200" y="761684"/>
            <a:ext cx="4828784" cy="5662230"/>
          </a:xfrm>
          <a:custGeom>
            <a:avLst/>
            <a:gdLst>
              <a:gd name="connsiteX0" fmla="*/ 0 w 5171440"/>
              <a:gd name="connsiteY0" fmla="*/ 5056400 h 5662230"/>
              <a:gd name="connsiteX1" fmla="*/ 3685975 w 5171440"/>
              <a:gd name="connsiteY1" fmla="*/ 5056400 h 5662230"/>
              <a:gd name="connsiteX2" fmla="*/ 3685975 w 5171440"/>
              <a:gd name="connsiteY2" fmla="*/ 5662230 h 5662230"/>
              <a:gd name="connsiteX3" fmla="*/ 0 w 5171440"/>
              <a:gd name="connsiteY3" fmla="*/ 5662230 h 5662230"/>
              <a:gd name="connsiteX4" fmla="*/ 3789884 w 5171440"/>
              <a:gd name="connsiteY4" fmla="*/ 0 h 5662230"/>
              <a:gd name="connsiteX5" fmla="*/ 5171440 w 5171440"/>
              <a:gd name="connsiteY5" fmla="*/ 0 h 5662230"/>
              <a:gd name="connsiteX6" fmla="*/ 5171440 w 5171440"/>
              <a:gd name="connsiteY6" fmla="*/ 5662230 h 5662230"/>
              <a:gd name="connsiteX7" fmla="*/ 3789884 w 5171440"/>
              <a:gd name="connsiteY7" fmla="*/ 5662230 h 5662230"/>
              <a:gd name="connsiteX8" fmla="*/ 3789884 w 5171440"/>
              <a:gd name="connsiteY8" fmla="*/ 5056400 h 5662230"/>
              <a:gd name="connsiteX9" fmla="*/ 5168980 w 5171440"/>
              <a:gd name="connsiteY9" fmla="*/ 5056400 h 5662230"/>
              <a:gd name="connsiteX10" fmla="*/ 5168980 w 5171440"/>
              <a:gd name="connsiteY10" fmla="*/ 4956108 h 5662230"/>
              <a:gd name="connsiteX11" fmla="*/ 3789884 w 5171440"/>
              <a:gd name="connsiteY11" fmla="*/ 4956108 h 5662230"/>
              <a:gd name="connsiteX12" fmla="*/ 0 w 5171440"/>
              <a:gd name="connsiteY12" fmla="*/ 0 h 5662230"/>
              <a:gd name="connsiteX13" fmla="*/ 3685975 w 5171440"/>
              <a:gd name="connsiteY13" fmla="*/ 0 h 5662230"/>
              <a:gd name="connsiteX14" fmla="*/ 3685975 w 5171440"/>
              <a:gd name="connsiteY14" fmla="*/ 4956108 h 5662230"/>
              <a:gd name="connsiteX15" fmla="*/ 0 w 5171440"/>
              <a:gd name="connsiteY15" fmla="*/ 4956108 h 566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71440" h="5662230">
                <a:moveTo>
                  <a:pt x="0" y="5056400"/>
                </a:moveTo>
                <a:lnTo>
                  <a:pt x="3685975" y="5056400"/>
                </a:lnTo>
                <a:lnTo>
                  <a:pt x="3685975" y="5662230"/>
                </a:lnTo>
                <a:lnTo>
                  <a:pt x="0" y="5662230"/>
                </a:lnTo>
                <a:close/>
                <a:moveTo>
                  <a:pt x="3789884" y="0"/>
                </a:moveTo>
                <a:lnTo>
                  <a:pt x="5171440" y="0"/>
                </a:lnTo>
                <a:lnTo>
                  <a:pt x="5171440" y="5662230"/>
                </a:lnTo>
                <a:lnTo>
                  <a:pt x="3789884" y="5662230"/>
                </a:lnTo>
                <a:lnTo>
                  <a:pt x="3789884" y="5056400"/>
                </a:lnTo>
                <a:lnTo>
                  <a:pt x="5168980" y="5056400"/>
                </a:lnTo>
                <a:lnTo>
                  <a:pt x="5168980" y="4956108"/>
                </a:lnTo>
                <a:lnTo>
                  <a:pt x="3789884" y="4956108"/>
                </a:lnTo>
                <a:close/>
                <a:moveTo>
                  <a:pt x="0" y="0"/>
                </a:moveTo>
                <a:lnTo>
                  <a:pt x="3685975" y="0"/>
                </a:lnTo>
                <a:lnTo>
                  <a:pt x="3685975" y="4956108"/>
                </a:lnTo>
                <a:lnTo>
                  <a:pt x="0" y="4956108"/>
                </a:lnTo>
                <a:close/>
              </a:path>
            </a:pathLst>
          </a:custGeom>
          <a:solidFill>
            <a:srgbClr val="E6C46D"/>
          </a:solidFill>
        </p:spPr>
      </p:pic>
      <p:sp>
        <p:nvSpPr>
          <p:cNvPr id="6" name="Content Placeholder 32">
            <a:extLst>
              <a:ext uri="{FF2B5EF4-FFF2-40B4-BE49-F238E27FC236}">
                <a16:creationId xmlns:a16="http://schemas.microsoft.com/office/drawing/2014/main" id="{25CBFDB7-A696-CDD7-957E-3BD62CEE1E32}"/>
              </a:ext>
            </a:extLst>
          </p:cNvPr>
          <p:cNvSpPr txBox="1">
            <a:spLocks/>
          </p:cNvSpPr>
          <p:nvPr/>
        </p:nvSpPr>
        <p:spPr>
          <a:xfrm>
            <a:off x="5459287" y="2192802"/>
            <a:ext cx="6263291" cy="172784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6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700" dirty="0"/>
              <a:t>Two main different types of stroke do exist [Gomes, Wachsman, 2013]: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US" sz="2700" dirty="0"/>
              <a:t>    - </a:t>
            </a:r>
            <a:r>
              <a:rPr lang="en-US" sz="2700" b="1" dirty="0"/>
              <a:t>ischemic</a:t>
            </a:r>
            <a:r>
              <a:rPr lang="en-US" sz="2700" dirty="0"/>
              <a:t> due to vessels occlusion, leading to the 	blood flow interruption to brain areas</a:t>
            </a:r>
          </a:p>
          <a:p>
            <a:pPr marL="0" indent="0">
              <a:buFont typeface="Wingdings 2" panose="05020102010507070707" pitchFamily="18" charset="2"/>
              <a:buNone/>
            </a:pPr>
            <a:r>
              <a:rPr lang="en-US" sz="2700" dirty="0"/>
              <a:t>    - </a:t>
            </a:r>
            <a:r>
              <a:rPr lang="en-US" sz="2700" b="1" dirty="0" err="1"/>
              <a:t>hemorragic</a:t>
            </a:r>
            <a:r>
              <a:rPr lang="en-US" sz="2700" dirty="0"/>
              <a:t> due to vessels bleeding causing 	direct damage to brain tissue</a:t>
            </a:r>
          </a:p>
          <a:p>
            <a:endParaRPr lang="en-US" dirty="0"/>
          </a:p>
        </p:txBody>
      </p:sp>
      <p:sp>
        <p:nvSpPr>
          <p:cNvPr id="10" name="Content Placeholder 32">
            <a:extLst>
              <a:ext uri="{FF2B5EF4-FFF2-40B4-BE49-F238E27FC236}">
                <a16:creationId xmlns:a16="http://schemas.microsoft.com/office/drawing/2014/main" id="{0EBD4982-5C44-266B-1EE2-EC219B01F0A8}"/>
              </a:ext>
            </a:extLst>
          </p:cNvPr>
          <p:cNvSpPr txBox="1">
            <a:spLocks/>
          </p:cNvSpPr>
          <p:nvPr/>
        </p:nvSpPr>
        <p:spPr>
          <a:xfrm>
            <a:off x="5471509" y="3846238"/>
            <a:ext cx="6263291" cy="267430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dirty="0"/>
              <a:t>Stroke-related impairments could be [Jambi et al. 2024]:</a:t>
            </a:r>
          </a:p>
          <a:p>
            <a:pPr marL="0" indent="0">
              <a:buNone/>
            </a:pPr>
            <a:r>
              <a:rPr lang="en-US" sz="1700" b="1" dirty="0"/>
              <a:t>    </a:t>
            </a:r>
            <a:r>
              <a:rPr lang="en-US" sz="1700" dirty="0"/>
              <a:t>- </a:t>
            </a:r>
            <a:r>
              <a:rPr lang="en-US" sz="1700" b="1" dirty="0"/>
              <a:t>Physical</a:t>
            </a:r>
            <a:r>
              <a:rPr lang="en-US" sz="1700" dirty="0"/>
              <a:t>: paralysis, balance and coordination deficits affecting mobility and daily activities </a:t>
            </a:r>
          </a:p>
          <a:p>
            <a:pPr marL="0" indent="0">
              <a:buNone/>
            </a:pPr>
            <a:r>
              <a:rPr lang="en-US" sz="1700" b="1" dirty="0"/>
              <a:t>    </a:t>
            </a:r>
            <a:r>
              <a:rPr lang="en-US" sz="1700" dirty="0"/>
              <a:t>-</a:t>
            </a:r>
            <a:r>
              <a:rPr lang="en-US" sz="1700" b="1" dirty="0"/>
              <a:t> Cognitive:</a:t>
            </a:r>
            <a:r>
              <a:rPr lang="en-US" sz="1700" dirty="0"/>
              <a:t> memory, attention, reasoning and decision-making difficulties </a:t>
            </a:r>
          </a:p>
          <a:p>
            <a:pPr marL="0" indent="0">
              <a:buNone/>
            </a:pPr>
            <a:r>
              <a:rPr lang="en-US" sz="1700" b="1" dirty="0"/>
              <a:t>    </a:t>
            </a:r>
            <a:r>
              <a:rPr lang="en-US" sz="1700" dirty="0"/>
              <a:t>-</a:t>
            </a:r>
            <a:r>
              <a:rPr lang="en-US" sz="1700" b="1" dirty="0"/>
              <a:t> Communication</a:t>
            </a:r>
            <a:r>
              <a:rPr lang="en-US" sz="1700" dirty="0"/>
              <a:t>: aphasia, speech and swallowing disorders limiting interaction</a:t>
            </a:r>
          </a:p>
          <a:p>
            <a:pPr marL="0" indent="0">
              <a:buNone/>
            </a:pPr>
            <a:endParaRPr lang="en-US" sz="1700" dirty="0"/>
          </a:p>
          <a:p>
            <a:endParaRPr lang="en-US" sz="1700" dirty="0"/>
          </a:p>
          <a:p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854442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618A4-5020-A570-BAAC-71C22849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360" y="3200233"/>
            <a:ext cx="3729789" cy="2796199"/>
          </a:xfrm>
        </p:spPr>
        <p:txBody>
          <a:bodyPr/>
          <a:lstStyle/>
          <a:p>
            <a:r>
              <a:rPr lang="en-US" dirty="0"/>
              <a:t>DATASET PRESENTATION &amp; references</a:t>
            </a:r>
            <a:br>
              <a:rPr lang="en-US" dirty="0"/>
            </a:b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9475E86-FFB0-87BC-084C-C728916152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197149" y="3141138"/>
            <a:ext cx="7418813" cy="3440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The 3</a:t>
            </a:r>
            <a:r>
              <a:rPr lang="en-US" baseline="30000" dirty="0"/>
              <a:t>rd</a:t>
            </a:r>
            <a:r>
              <a:rPr lang="en-US" dirty="0"/>
              <a:t> release of the dataset includes:</a:t>
            </a:r>
          </a:p>
          <a:p>
            <a:r>
              <a:rPr lang="en-US" dirty="0"/>
              <a:t>1453 T1-weighted MRI scans</a:t>
            </a:r>
          </a:p>
          <a:p>
            <a:r>
              <a:rPr lang="en-US" dirty="0"/>
              <a:t>1453 corresponding binary masks for stroke lesion mapping</a:t>
            </a:r>
          </a:p>
          <a:p>
            <a:r>
              <a:rPr lang="en-US" dirty="0"/>
              <a:t>1453 metadata csv files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It can be downloaded by making request to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https://docs.google.com/forms/d/e/1FAIpQLSclH8padHr9zwdQVx9YY_yeM_4OqD1OQFvYcYpAQKaqC6Vscg/viewform</a:t>
            </a: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b="1" dirty="0"/>
              <a:t>Raw data </a:t>
            </a:r>
            <a:r>
              <a:rPr lang="en-US" dirty="0"/>
              <a:t>have been taken into account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Original paper is edited by Liew et al. 2018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ym typeface="Wingdings" panose="05000000000000000000" pitchFamily="2" charset="2"/>
                <a:hlinkClick r:id="rId4"/>
              </a:rPr>
              <a:t>https://www.nature.com/articles/sdata201811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2299915-60EB-A50E-65D8-4D2A18B929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30" y="750280"/>
            <a:ext cx="10516140" cy="199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820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68E91FE-1E96-9012-B0A7-9E9605A1D0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9580" y="352743"/>
            <a:ext cx="11292839" cy="1068961"/>
          </a:xfrm>
        </p:spPr>
        <p:txBody>
          <a:bodyPr>
            <a:normAutofit/>
          </a:bodyPr>
          <a:lstStyle/>
          <a:p>
            <a:r>
              <a:rPr lang="en-US" dirty="0"/>
              <a:t>Exploratory data analysis (1)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FE7C7-1205-0DBF-54DA-9525AF764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15" y="1764155"/>
            <a:ext cx="4638410" cy="4154394"/>
          </a:xfrm>
          <a:prstGeom prst="rect">
            <a:avLst/>
          </a:prstGeom>
        </p:spPr>
      </p:pic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8E36B77-2B3E-2D16-6768-7CB4AD7E2148}"/>
              </a:ext>
            </a:extLst>
          </p:cNvPr>
          <p:cNvSpPr txBox="1">
            <a:spLocks/>
          </p:cNvSpPr>
          <p:nvPr/>
        </p:nvSpPr>
        <p:spPr>
          <a:xfrm>
            <a:off x="5646002" y="2541789"/>
            <a:ext cx="5948283" cy="2909122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majority of MRI volumes are acquired in the Right Anterior Superior </a:t>
            </a:r>
            <a:r>
              <a:rPr lang="en-US" b="1" dirty="0"/>
              <a:t>(RAS) </a:t>
            </a:r>
            <a:r>
              <a:rPr lang="en-US" dirty="0"/>
              <a:t>orientation, for about the 60% out of the total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Nevertheless, a significative Left Anterior Superior </a:t>
            </a:r>
            <a:r>
              <a:rPr lang="en-US" b="1" dirty="0"/>
              <a:t>(LAS) </a:t>
            </a:r>
            <a:r>
              <a:rPr lang="en-US" dirty="0"/>
              <a:t>cluster of volumes (about 39%) is observed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Other orientation spaces are detected through extremely rare</a:t>
            </a:r>
          </a:p>
          <a:p>
            <a:pPr marL="3240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841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F7DE-AA6E-0ABC-8C8D-568037C32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39BA134-7C88-648D-46A8-81050350B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9580" y="352743"/>
            <a:ext cx="11292839" cy="1068961"/>
          </a:xfrm>
        </p:spPr>
        <p:txBody>
          <a:bodyPr>
            <a:normAutofit/>
          </a:bodyPr>
          <a:lstStyle/>
          <a:p>
            <a:r>
              <a:rPr lang="en-US" dirty="0"/>
              <a:t>Exploratory data analysis (2)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B2BCAA-B9E4-E3B1-D681-825B40A53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34" y="1589611"/>
            <a:ext cx="4461865" cy="344441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741CA3-DA14-6F60-7962-6BC78CA36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2649" y="1589612"/>
            <a:ext cx="4461866" cy="339678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A777B-307B-3D00-4974-7451993645B1}"/>
              </a:ext>
            </a:extLst>
          </p:cNvPr>
          <p:cNvSpPr txBox="1">
            <a:spLocks/>
          </p:cNvSpPr>
          <p:nvPr/>
        </p:nvSpPr>
        <p:spPr>
          <a:xfrm>
            <a:off x="986434" y="5034025"/>
            <a:ext cx="4885150" cy="1574838"/>
          </a:xfrm>
          <a:prstGeom prst="rect">
            <a:avLst/>
          </a:prstGeom>
          <a:noFill/>
        </p:spPr>
        <p:txBody>
          <a:bodyPr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Variability in volume dimensions is shown, especially along Y and Z axes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if the majority of volumes highlight a shape centered towards 188 x 256 x 256, heavy right tails up to 1008 voxels (Y and Z dim) are detected</a:t>
            </a:r>
          </a:p>
          <a:p>
            <a:pPr marL="324000" lvl="1" indent="0">
              <a:buNone/>
            </a:pPr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06D3F8C-8A18-90DB-851B-516F389B3558}"/>
              </a:ext>
            </a:extLst>
          </p:cNvPr>
          <p:cNvSpPr txBox="1">
            <a:spLocks/>
          </p:cNvSpPr>
          <p:nvPr/>
        </p:nvSpPr>
        <p:spPr>
          <a:xfrm>
            <a:off x="6095999" y="5034025"/>
            <a:ext cx="4885150" cy="1574838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Volumes tend to share a common spatial resolution along axes (1mm x 1mm x 1mm)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Anisotropic resolutions are shown as well: extreme cases reveal voxel sizes up to 6 mm</a:t>
            </a:r>
          </a:p>
          <a:p>
            <a:pPr marL="3240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970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66CF7-69F4-F432-4747-28EF15528D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82E89-DB15-6D26-7098-DA9792B0B0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Confidence-building strategies</a:t>
            </a:r>
          </a:p>
        </p:txBody>
      </p:sp>
    </p:spTree>
    <p:extLst>
      <p:ext uri="{BB962C8B-B14F-4D97-AF65-F5344CB8AC3E}">
        <p14:creationId xmlns:p14="http://schemas.microsoft.com/office/powerpoint/2010/main" val="1605306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C903843E-1FAB-AFBB-BDC9-440FCC8CFB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n-US" dirty="0"/>
              <a:t>Selecting visual aids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826664CC-F0B7-D2E1-A321-E97944F52E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noFill/>
        </p:spPr>
        <p:txBody>
          <a:bodyPr anchor="t"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F0FD1A0-C075-EE18-B3AE-363C242D0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4" name="Content Placeholder 33">
            <a:extLst>
              <a:ext uri="{FF2B5EF4-FFF2-40B4-BE49-F238E27FC236}">
                <a16:creationId xmlns:a16="http://schemas.microsoft.com/office/drawing/2014/main" id="{C69167C3-302B-24DE-9CF7-D85D5D5DD20A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r>
              <a:rPr lang="en-US" dirty="0"/>
              <a:t>Pitch variation</a:t>
            </a:r>
          </a:p>
          <a:p>
            <a:r>
              <a:rPr lang="en-US" dirty="0"/>
              <a:t>Tone inflection</a:t>
            </a:r>
          </a:p>
          <a:p>
            <a:r>
              <a:rPr lang="en-US" dirty="0"/>
              <a:t>Volume control</a:t>
            </a:r>
          </a:p>
          <a:p>
            <a:endParaRPr lang="en-US" dirty="0"/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C987B03-58AE-7E8A-A1C7-83569FBBC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 dirty="0"/>
              <a:t>Effective body language enhances your message, </a:t>
            </a:r>
            <a:br>
              <a:rPr lang="en-US" dirty="0"/>
            </a:br>
            <a:r>
              <a:rPr lang="en-US" dirty="0"/>
              <a:t>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EBA544F6-BF8C-2C87-3906-146BEDB4C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noFill/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pPr lvl="1"/>
            <a:r>
              <a:rPr lang="en-US" dirty="0"/>
              <a:t>Stay calm</a:t>
            </a:r>
          </a:p>
          <a:p>
            <a:pPr lvl="1"/>
            <a:r>
              <a:rPr lang="en-US" dirty="0"/>
              <a:t>Actively listen</a:t>
            </a:r>
          </a:p>
          <a:p>
            <a:pPr lvl="1"/>
            <a:r>
              <a:rPr lang="en-US" dirty="0"/>
              <a:t>Pause and reflect</a:t>
            </a:r>
          </a:p>
          <a:p>
            <a:pPr lvl="1"/>
            <a:r>
              <a:rPr lang="en-US" dirty="0"/>
              <a:t>Maintain eye contact</a:t>
            </a:r>
          </a:p>
        </p:txBody>
      </p:sp>
    </p:spTree>
    <p:extLst>
      <p:ext uri="{BB962C8B-B14F-4D97-AF65-F5344CB8AC3E}">
        <p14:creationId xmlns:p14="http://schemas.microsoft.com/office/powerpoint/2010/main" val="2676905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29">
            <a:extLst>
              <a:ext uri="{FF2B5EF4-FFF2-40B4-BE49-F238E27FC236}">
                <a16:creationId xmlns:a16="http://schemas.microsoft.com/office/drawing/2014/main" id="{6A93E959-E68D-08C8-9C1E-5A318B3EF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24" name="Content Placeholder 23">
            <a:extLst>
              <a:ext uri="{FF2B5EF4-FFF2-40B4-BE49-F238E27FC236}">
                <a16:creationId xmlns:a16="http://schemas.microsoft.com/office/drawing/2014/main" id="{4C1675C6-9CE1-3D87-365F-B3DB1F59CE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17" name="Table Placeholder 3">
            <a:extLst>
              <a:ext uri="{FF2B5EF4-FFF2-40B4-BE49-F238E27FC236}">
                <a16:creationId xmlns:a16="http://schemas.microsoft.com/office/drawing/2014/main" id="{8A222178-BDA0-1F26-F788-4610ADCDC64A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484645028"/>
              </p:ext>
            </p:extLst>
          </p:nvPr>
        </p:nvGraphicFramePr>
        <p:xfrm>
          <a:off x="4237038" y="2236788"/>
          <a:ext cx="7493924" cy="3969602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873481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1966082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1780880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1873481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58761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7639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332C6-AEE4-A451-A3C8-7C2C8E2A5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tips and takeaways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443D9-BCAD-2F33-9DE7-54605EFCC26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1D2219-E3DF-929F-48CC-5C470A21A177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</p:spTree>
    <p:extLst>
      <p:ext uri="{BB962C8B-B14F-4D97-AF65-F5344CB8AC3E}">
        <p14:creationId xmlns:p14="http://schemas.microsoft.com/office/powerpoint/2010/main" val="370479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D7F0B11-5AF3-1D12-4201-C1E09DF7D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12" name="Table Placeholder 3">
            <a:extLst>
              <a:ext uri="{FF2B5EF4-FFF2-40B4-BE49-F238E27FC236}">
                <a16:creationId xmlns:a16="http://schemas.microsoft.com/office/drawing/2014/main" id="{EF0D1DE7-CAB7-B879-750A-7167B6155FF7}"/>
              </a:ext>
            </a:extLst>
          </p:cNvPr>
          <p:cNvGraphicFramePr>
            <a:graphicFrameLocks noGrp="1"/>
          </p:cNvGraphicFramePr>
          <p:nvPr>
            <p:ph type="tbl" sz="quarter" idx="13"/>
            <p:extLst>
              <p:ext uri="{D42A27DB-BD31-4B8C-83A1-F6EECF244321}">
                <p14:modId xmlns:p14="http://schemas.microsoft.com/office/powerpoint/2010/main" val="3708368100"/>
              </p:ext>
            </p:extLst>
          </p:nvPr>
        </p:nvGraphicFramePr>
        <p:xfrm>
          <a:off x="457200" y="2235200"/>
          <a:ext cx="11301156" cy="3969606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3002874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647704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825289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825289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  <a:tr h="6616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8537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30">
            <a:extLst>
              <a:ext uri="{FF2B5EF4-FFF2-40B4-BE49-F238E27FC236}">
                <a16:creationId xmlns:a16="http://schemas.microsoft.com/office/drawing/2014/main" id="{B045D6AF-532B-394C-0C6F-38B6628CE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9B25D-9615-9332-C32E-4F458417E11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pic>
        <p:nvPicPr>
          <p:cNvPr id="23" name="Picture Placeholder 22" descr="A group of people giving each other a high five">
            <a:extLst>
              <a:ext uri="{FF2B5EF4-FFF2-40B4-BE49-F238E27FC236}">
                <a16:creationId xmlns:a16="http://schemas.microsoft.com/office/drawing/2014/main" id="{D92A2E6E-E7AB-92FB-0E6F-133483021C2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l="6095" r="6095"/>
          <a:stretch/>
        </p:blipFill>
        <p:spPr/>
      </p:pic>
    </p:spTree>
    <p:extLst>
      <p:ext uri="{BB962C8B-B14F-4D97-AF65-F5344CB8AC3E}">
        <p14:creationId xmlns:p14="http://schemas.microsoft.com/office/powerpoint/2010/main" val="2770959368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037C456-A6DA-4DEE-A3FB-4EC3058FD0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9D1F84C-D1FD-4B1B-9CFD-8E0D96AC4DF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A00B2AC-C335-4100-B8B3-2D9F49A729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Dividend design</Template>
  <TotalTime>337</TotalTime>
  <Words>668</Words>
  <Application>Microsoft Office PowerPoint</Application>
  <PresentationFormat>Widescreen</PresentationFormat>
  <Paragraphs>142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Gill Sans MT</vt:lpstr>
      <vt:lpstr>Wingdings</vt:lpstr>
      <vt:lpstr>Wingdings 2</vt:lpstr>
      <vt:lpstr>DividendVTI</vt:lpstr>
      <vt:lpstr>3D BraiN STROKE SEGMENTATION using U-NET </vt:lpstr>
      <vt:lpstr>BRAIN STROKE INTRODUCTION</vt:lpstr>
      <vt:lpstr>DATASET PRESENTATION &amp; references </vt:lpstr>
      <vt:lpstr>Exploratory data analysis (1)</vt:lpstr>
      <vt:lpstr>Exploratory data analysis (2)</vt:lpstr>
      <vt:lpstr>Overcoming nervousness</vt:lpstr>
      <vt:lpstr>Selecting visual aids</vt:lpstr>
      <vt:lpstr>Effective delivery techniques</vt:lpstr>
      <vt:lpstr>Navigating Q&amp;A sessions</vt:lpstr>
      <vt:lpstr>Dynamic delivery</vt:lpstr>
      <vt:lpstr>Final tips and takeaways</vt:lpstr>
      <vt:lpstr>Speaking engagement metrics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m.dibiase2@campus.unimib.it</dc:creator>
  <cp:lastModifiedBy>m.dibiase2@campus.unimib.it</cp:lastModifiedBy>
  <cp:revision>2</cp:revision>
  <dcterms:created xsi:type="dcterms:W3CDTF">2026-07-11T09:46:37Z</dcterms:created>
  <dcterms:modified xsi:type="dcterms:W3CDTF">2026-07-11T15:23:48Z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