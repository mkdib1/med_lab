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99" r:id="rId4"/>
  </p:sldMasterIdLst>
  <p:notesMasterIdLst>
    <p:notesMasterId r:id="rId20"/>
  </p:notesMasterIdLst>
  <p:handoutMasterIdLst>
    <p:handoutMasterId r:id="rId21"/>
  </p:handoutMasterIdLst>
  <p:sldIdLst>
    <p:sldId id="292" r:id="rId5"/>
    <p:sldId id="287" r:id="rId6"/>
    <p:sldId id="293" r:id="rId7"/>
    <p:sldId id="266" r:id="rId8"/>
    <p:sldId id="297" r:id="rId9"/>
    <p:sldId id="298" r:id="rId10"/>
    <p:sldId id="283" r:id="rId11"/>
    <p:sldId id="299" r:id="rId12"/>
    <p:sldId id="295" r:id="rId13"/>
    <p:sldId id="264" r:id="rId14"/>
    <p:sldId id="289" r:id="rId15"/>
    <p:sldId id="268" r:id="rId16"/>
    <p:sldId id="296" r:id="rId17"/>
    <p:sldId id="285" r:id="rId18"/>
    <p:sldId id="294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69FA7"/>
    <a:srgbClr val="CCCCFF"/>
    <a:srgbClr val="FF6600"/>
    <a:srgbClr val="FF9966"/>
    <a:srgbClr val="B4D8CE"/>
    <a:srgbClr val="CC66FF"/>
    <a:srgbClr val="4653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12C8C85-51F0-491E-9774-3900AFEF0F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0518" autoAdjust="0"/>
  </p:normalViewPr>
  <p:slideViewPr>
    <p:cSldViewPr snapToGrid="0" showGuides="1">
      <p:cViewPr varScale="1">
        <p:scale>
          <a:sx n="100" d="100"/>
          <a:sy n="100" d="100"/>
        </p:scale>
        <p:origin x="348" y="52"/>
      </p:cViewPr>
      <p:guideLst/>
    </p:cSldViewPr>
  </p:slideViewPr>
  <p:outlineViewPr>
    <p:cViewPr>
      <p:scale>
        <a:sx n="33" d="100"/>
        <a:sy n="33" d="100"/>
      </p:scale>
      <p:origin x="0" y="-498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1757"/>
    </p:cViewPr>
  </p:sorterViewPr>
  <p:notesViewPr>
    <p:cSldViewPr snapToGrid="0">
      <p:cViewPr varScale="1">
        <p:scale>
          <a:sx n="58" d="100"/>
          <a:sy n="58" d="100"/>
        </p:scale>
        <p:origin x="3240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4C3C3A6-B337-4D83-9CDB-B9C35780FF7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C79A68-3D73-4695-8C1E-3CDBCB536D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97C6B7-F63D-48F8-8C65-A57506B0F13B}" type="datetimeFigureOut">
              <a:rPr lang="en-US" smtClean="0"/>
              <a:t>12-Jul-26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F5045C-A7CE-41D4-85C5-0E9ACEEF9B2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9ABD0F-F8EA-4B9F-8647-FC7D4AE3D83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AB78DD-9481-4863-BCCC-946573546DA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50403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09A0FA-2191-4F92-A1E4-6EB4598AC4EC}" type="datetimeFigureOut">
              <a:rPr lang="en-US" smtClean="0"/>
              <a:t>12-Jul-26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3359F2-43EF-4812-9DC0-98C0B1A4068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01116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28502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48038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7043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65740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ACCEB8-2B12-B0B2-B698-1912915E4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6349CB-5DA4-37E6-5D0D-DF1DBD52ED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9976BF-60AB-8D08-359E-72BC2465D1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96CC54-BECE-9C3B-1CA9-CFC24063D3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30213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EBE5A9-1DFD-5FD4-F441-9D8BD523D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B10A76-45B5-9E45-D262-938B9C4126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D6F726-F759-49FD-75D8-242850A0A3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5A7BA5-83FB-7ED1-C6B1-8533F066DB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25699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0271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1F19F-96C2-055C-0F72-735103C5A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6B3341-9512-8246-CF3B-AAEBEF44E0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44D028-9518-CE49-5373-92D9B663F2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49838E-757B-5368-0467-E64B6EF06C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4135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97931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02895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70239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96703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67079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431974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34647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666156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957535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014896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861492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491554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297532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32013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989077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58643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873301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039887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926BD44-2224-46FF-A4E7-9C9FFE197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40079"/>
            <a:ext cx="3657600" cy="2100851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C87D77D-2EA4-028B-1ACF-E1120CE8F0E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57201" y="2862470"/>
            <a:ext cx="3657600" cy="3510898"/>
          </a:xfrm>
        </p:spPr>
        <p:txBody>
          <a:bodyPr anchor="t" anchorCtr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add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CFA45C0-9EBE-13AF-9B5D-9D5F4BF223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242815" y="640080"/>
            <a:ext cx="7491984" cy="5751576"/>
          </a:xfrm>
          <a:custGeom>
            <a:avLst/>
            <a:gdLst>
              <a:gd name="connsiteX0" fmla="*/ 3800341 w 7491984"/>
              <a:gd name="connsiteY0" fmla="*/ 0 h 5751576"/>
              <a:gd name="connsiteX1" fmla="*/ 7491984 w 7491984"/>
              <a:gd name="connsiteY1" fmla="*/ 0 h 5751576"/>
              <a:gd name="connsiteX2" fmla="*/ 7491984 w 7491984"/>
              <a:gd name="connsiteY2" fmla="*/ 5751576 h 5751576"/>
              <a:gd name="connsiteX3" fmla="*/ 3800341 w 7491984"/>
              <a:gd name="connsiteY3" fmla="*/ 5751576 h 5751576"/>
              <a:gd name="connsiteX4" fmla="*/ 0 w 7491984"/>
              <a:gd name="connsiteY4" fmla="*/ 0 h 5751576"/>
              <a:gd name="connsiteX5" fmla="*/ 3696432 w 7491984"/>
              <a:gd name="connsiteY5" fmla="*/ 0 h 5751576"/>
              <a:gd name="connsiteX6" fmla="*/ 3696432 w 7491984"/>
              <a:gd name="connsiteY6" fmla="*/ 5751576 h 5751576"/>
              <a:gd name="connsiteX7" fmla="*/ 0 w 7491984"/>
              <a:gd name="connsiteY7" fmla="*/ 5751576 h 5751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491984" h="5751576">
                <a:moveTo>
                  <a:pt x="3800341" y="0"/>
                </a:moveTo>
                <a:lnTo>
                  <a:pt x="7491984" y="0"/>
                </a:lnTo>
                <a:lnTo>
                  <a:pt x="7491984" y="5751576"/>
                </a:lnTo>
                <a:lnTo>
                  <a:pt x="3800341" y="5751576"/>
                </a:lnTo>
                <a:close/>
                <a:moveTo>
                  <a:pt x="0" y="0"/>
                </a:moveTo>
                <a:lnTo>
                  <a:pt x="3696432" y="0"/>
                </a:lnTo>
                <a:lnTo>
                  <a:pt x="3696432" y="5751576"/>
                </a:lnTo>
                <a:lnTo>
                  <a:pt x="0" y="5751576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t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D5DDC5FA-EEDB-898F-533E-4094ADA899B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E79B0359-4B55-D899-E584-A8E6B2ED912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916D02-76FE-EAED-CC51-A50448811F7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682289" y="6423914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4173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E787D40-90B5-470E-95A2-784F1CB479C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49580" y="4423702"/>
            <a:ext cx="11292839" cy="1550378"/>
          </a:xfrm>
        </p:spPr>
        <p:txBody>
          <a:bodyPr>
            <a:noAutofit/>
          </a:bodyPr>
          <a:lstStyle>
            <a:lvl1pPr algn="ctr"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28BC27-38F1-47F3-EC35-7DD8B88A753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49580" y="705104"/>
            <a:ext cx="11292840" cy="3643376"/>
          </a:xfrm>
          <a:custGeom>
            <a:avLst/>
            <a:gdLst>
              <a:gd name="connsiteX0" fmla="*/ 7593576 w 11292840"/>
              <a:gd name="connsiteY0" fmla="*/ 0 h 3643376"/>
              <a:gd name="connsiteX1" fmla="*/ 11292840 w 11292840"/>
              <a:gd name="connsiteY1" fmla="*/ 0 h 3643376"/>
              <a:gd name="connsiteX2" fmla="*/ 11292840 w 11292840"/>
              <a:gd name="connsiteY2" fmla="*/ 3643376 h 3643376"/>
              <a:gd name="connsiteX3" fmla="*/ 7593576 w 11292840"/>
              <a:gd name="connsiteY3" fmla="*/ 3643376 h 3643376"/>
              <a:gd name="connsiteX4" fmla="*/ 0 w 11292840"/>
              <a:gd name="connsiteY4" fmla="*/ 0 h 3643376"/>
              <a:gd name="connsiteX5" fmla="*/ 7489667 w 11292840"/>
              <a:gd name="connsiteY5" fmla="*/ 0 h 3643376"/>
              <a:gd name="connsiteX6" fmla="*/ 7489667 w 11292840"/>
              <a:gd name="connsiteY6" fmla="*/ 3643376 h 3643376"/>
              <a:gd name="connsiteX7" fmla="*/ 0 w 11292840"/>
              <a:gd name="connsiteY7" fmla="*/ 3643376 h 3643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292840" h="3643376">
                <a:moveTo>
                  <a:pt x="7593576" y="0"/>
                </a:moveTo>
                <a:lnTo>
                  <a:pt x="11292840" y="0"/>
                </a:lnTo>
                <a:lnTo>
                  <a:pt x="11292840" y="3643376"/>
                </a:lnTo>
                <a:lnTo>
                  <a:pt x="7593576" y="3643376"/>
                </a:lnTo>
                <a:close/>
                <a:moveTo>
                  <a:pt x="0" y="0"/>
                </a:moveTo>
                <a:lnTo>
                  <a:pt x="7489667" y="0"/>
                </a:lnTo>
                <a:lnTo>
                  <a:pt x="7489667" y="3643376"/>
                </a:lnTo>
                <a:lnTo>
                  <a:pt x="0" y="3643376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t">
            <a:noAutofit/>
          </a:bodyPr>
          <a:lstStyle>
            <a:lvl1pPr marL="0" indent="0" algn="ctr">
              <a:buNone/>
              <a:defRPr/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 dirty="0"/>
              <a:t>Click to add picture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53343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subtitle + pictur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6882" y="629920"/>
            <a:ext cx="3606800" cy="2809240"/>
          </a:xfrm>
        </p:spPr>
        <p:txBody>
          <a:bodyPr anchor="b">
            <a:noAutofit/>
          </a:bodyPr>
          <a:lstStyle>
            <a:lvl1pPr algn="l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6881" y="3698240"/>
            <a:ext cx="3606800" cy="2271076"/>
          </a:xfrm>
        </p:spPr>
        <p:txBody>
          <a:bodyPr anchor="t">
            <a:no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070940-5919-2C95-2278-32E50BF14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7D599-49CF-19FE-6D86-C5EDB765F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931DF1-1C8D-86B9-BFDD-098FFC00F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02608" y="6423914"/>
            <a:ext cx="1052510" cy="365125"/>
          </a:xfrm>
        </p:spPr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54FD2A1-D363-7C44-2A72-54E8B397D31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36720" y="650240"/>
            <a:ext cx="7518398" cy="5713918"/>
          </a:xfrm>
          <a:custGeom>
            <a:avLst/>
            <a:gdLst>
              <a:gd name="connsiteX0" fmla="*/ 3806436 w 7518398"/>
              <a:gd name="connsiteY0" fmla="*/ 4479475 h 5713918"/>
              <a:gd name="connsiteX1" fmla="*/ 7518398 w 7518398"/>
              <a:gd name="connsiteY1" fmla="*/ 4479475 h 5713918"/>
              <a:gd name="connsiteX2" fmla="*/ 7518398 w 7518398"/>
              <a:gd name="connsiteY2" fmla="*/ 5713918 h 5713918"/>
              <a:gd name="connsiteX3" fmla="*/ 3806436 w 7518398"/>
              <a:gd name="connsiteY3" fmla="*/ 5713918 h 5713918"/>
              <a:gd name="connsiteX4" fmla="*/ 0 w 7518398"/>
              <a:gd name="connsiteY4" fmla="*/ 4479475 h 5713918"/>
              <a:gd name="connsiteX5" fmla="*/ 3702527 w 7518398"/>
              <a:gd name="connsiteY5" fmla="*/ 4479475 h 5713918"/>
              <a:gd name="connsiteX6" fmla="*/ 3702527 w 7518398"/>
              <a:gd name="connsiteY6" fmla="*/ 5713918 h 5713918"/>
              <a:gd name="connsiteX7" fmla="*/ 0 w 7518398"/>
              <a:gd name="connsiteY7" fmla="*/ 5713918 h 5713918"/>
              <a:gd name="connsiteX8" fmla="*/ 3806436 w 7518398"/>
              <a:gd name="connsiteY8" fmla="*/ 0 h 5713918"/>
              <a:gd name="connsiteX9" fmla="*/ 7518398 w 7518398"/>
              <a:gd name="connsiteY9" fmla="*/ 0 h 5713918"/>
              <a:gd name="connsiteX10" fmla="*/ 7518398 w 7518398"/>
              <a:gd name="connsiteY10" fmla="*/ 4379183 h 5713918"/>
              <a:gd name="connsiteX11" fmla="*/ 3806436 w 7518398"/>
              <a:gd name="connsiteY11" fmla="*/ 4379183 h 5713918"/>
              <a:gd name="connsiteX12" fmla="*/ 0 w 7518398"/>
              <a:gd name="connsiteY12" fmla="*/ 0 h 5713918"/>
              <a:gd name="connsiteX13" fmla="*/ 3702527 w 7518398"/>
              <a:gd name="connsiteY13" fmla="*/ 0 h 5713918"/>
              <a:gd name="connsiteX14" fmla="*/ 3702527 w 7518398"/>
              <a:gd name="connsiteY14" fmla="*/ 4379183 h 5713918"/>
              <a:gd name="connsiteX15" fmla="*/ 0 w 7518398"/>
              <a:gd name="connsiteY15" fmla="*/ 4379183 h 5713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518398" h="5713918">
                <a:moveTo>
                  <a:pt x="3806436" y="4479475"/>
                </a:moveTo>
                <a:lnTo>
                  <a:pt x="7518398" y="4479475"/>
                </a:lnTo>
                <a:lnTo>
                  <a:pt x="7518398" y="5713918"/>
                </a:lnTo>
                <a:lnTo>
                  <a:pt x="3806436" y="5713918"/>
                </a:lnTo>
                <a:close/>
                <a:moveTo>
                  <a:pt x="0" y="4479475"/>
                </a:moveTo>
                <a:lnTo>
                  <a:pt x="3702527" y="4479475"/>
                </a:lnTo>
                <a:lnTo>
                  <a:pt x="3702527" y="5713918"/>
                </a:lnTo>
                <a:lnTo>
                  <a:pt x="0" y="5713918"/>
                </a:lnTo>
                <a:close/>
                <a:moveTo>
                  <a:pt x="3806436" y="0"/>
                </a:moveTo>
                <a:lnTo>
                  <a:pt x="7518398" y="0"/>
                </a:lnTo>
                <a:lnTo>
                  <a:pt x="7518398" y="4379183"/>
                </a:lnTo>
                <a:lnTo>
                  <a:pt x="3806436" y="4379183"/>
                </a:lnTo>
                <a:close/>
                <a:moveTo>
                  <a:pt x="0" y="0"/>
                </a:moveTo>
                <a:lnTo>
                  <a:pt x="3702527" y="0"/>
                </a:lnTo>
                <a:lnTo>
                  <a:pt x="3702527" y="4379183"/>
                </a:lnTo>
                <a:lnTo>
                  <a:pt x="0" y="4379183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t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57795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9CC542F-D03C-4537-9B6E-7F653B6515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878091"/>
            <a:ext cx="3729789" cy="3440485"/>
          </a:xfrm>
        </p:spPr>
        <p:txBody>
          <a:bodyPr tIns="182880" bIns="182880" anchor="ctr" anchorCtr="0">
            <a:noAutofit/>
          </a:bodyPr>
          <a:lstStyle/>
          <a:p>
            <a:r>
              <a:rPr lang="en-US" dirty="0"/>
              <a:t>Click to add title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0F1D2B-CBE7-6279-2158-7A9F3B5D5C61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57200" y="670560"/>
            <a:ext cx="11267440" cy="2139696"/>
          </a:xfrm>
          <a:custGeom>
            <a:avLst/>
            <a:gdLst>
              <a:gd name="connsiteX0" fmla="*/ 3783068 w 11267440"/>
              <a:gd name="connsiteY0" fmla="*/ 0 h 2139696"/>
              <a:gd name="connsiteX1" fmla="*/ 11267440 w 11267440"/>
              <a:gd name="connsiteY1" fmla="*/ 0 h 2139696"/>
              <a:gd name="connsiteX2" fmla="*/ 11267440 w 11267440"/>
              <a:gd name="connsiteY2" fmla="*/ 2139696 h 2139696"/>
              <a:gd name="connsiteX3" fmla="*/ 3783068 w 11267440"/>
              <a:gd name="connsiteY3" fmla="*/ 2139696 h 2139696"/>
              <a:gd name="connsiteX4" fmla="*/ 0 w 11267440"/>
              <a:gd name="connsiteY4" fmla="*/ 0 h 2139696"/>
              <a:gd name="connsiteX5" fmla="*/ 3677799 w 11267440"/>
              <a:gd name="connsiteY5" fmla="*/ 0 h 2139696"/>
              <a:gd name="connsiteX6" fmla="*/ 3677799 w 11267440"/>
              <a:gd name="connsiteY6" fmla="*/ 2139696 h 2139696"/>
              <a:gd name="connsiteX7" fmla="*/ 0 w 11267440"/>
              <a:gd name="connsiteY7" fmla="*/ 2139696 h 2139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267440" h="2139696">
                <a:moveTo>
                  <a:pt x="3783068" y="0"/>
                </a:moveTo>
                <a:lnTo>
                  <a:pt x="11267440" y="0"/>
                </a:lnTo>
                <a:lnTo>
                  <a:pt x="11267440" y="2139696"/>
                </a:lnTo>
                <a:lnTo>
                  <a:pt x="3783068" y="2139696"/>
                </a:lnTo>
                <a:close/>
                <a:moveTo>
                  <a:pt x="0" y="0"/>
                </a:moveTo>
                <a:lnTo>
                  <a:pt x="3677799" y="0"/>
                </a:lnTo>
                <a:lnTo>
                  <a:pt x="3677799" y="2139696"/>
                </a:lnTo>
                <a:lnTo>
                  <a:pt x="0" y="2139696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t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135EE74D-5A60-B83C-5C2D-7B6FEA778FCB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305827" y="2878091"/>
            <a:ext cx="7418813" cy="3440485"/>
          </a:xfrm>
        </p:spPr>
        <p:txBody>
          <a:bodyPr anchor="ctr" anchorCtr="0">
            <a:normAutofit/>
          </a:bodyPr>
          <a:lstStyle>
            <a:lvl1pPr marL="283464" indent="-283464">
              <a:buFont typeface="Arial" panose="020B0604020202020204" pitchFamily="34" charset="0"/>
              <a:buChar char="•"/>
              <a:defRPr/>
            </a:lvl1pPr>
            <a:lvl2pPr marL="283464" indent="-283464">
              <a:buFont typeface="Arial" panose="020B0604020202020204" pitchFamily="34" charset="0"/>
              <a:buChar char="•"/>
              <a:defRPr/>
            </a:lvl2pPr>
            <a:lvl3pPr marL="283464" indent="-283464">
              <a:buFont typeface="Arial" panose="020B0604020202020204" pitchFamily="34" charset="0"/>
              <a:buChar char="•"/>
              <a:defRPr/>
            </a:lvl3pPr>
            <a:lvl4pPr marL="283464" indent="-283464">
              <a:buFont typeface="Arial" panose="020B0604020202020204" pitchFamily="34" charset="0"/>
              <a:buChar char="•"/>
              <a:defRPr/>
            </a:lvl4pPr>
            <a:lvl5pPr marL="283464" indent="-283464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add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BCF1FAD-0BAD-2574-3352-B152DF76C15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EC328E41-645E-D257-FFF3-93344A8E4FA5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DEF9E45A-6561-C074-14CE-B3B63476D22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0672130" y="6423914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85836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43000"/>
            <a:ext cx="9144000" cy="2585720"/>
          </a:xfrm>
        </p:spPr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799840"/>
            <a:ext cx="9144000" cy="2052320"/>
          </a:xfrm>
        </p:spPr>
        <p:txBody>
          <a:bodyPr anchor="t">
            <a:no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96853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690880"/>
            <a:ext cx="1126744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ECA520B1-DC84-A47D-1F5E-CCD567EB2D86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457200" y="2187362"/>
            <a:ext cx="3657600" cy="3633047"/>
          </a:xfrm>
        </p:spPr>
        <p:txBody>
          <a:bodyPr anchor="t">
            <a:normAutofit/>
          </a:bodyPr>
          <a:lstStyle>
            <a:lvl1pPr marL="342900" indent="-342900">
              <a:buFont typeface="+mj-lt"/>
              <a:buAutoNum type="arabicPeriod"/>
              <a:defRPr sz="1800"/>
            </a:lvl1pPr>
            <a:lvl2pPr marL="914400" indent="-342900">
              <a:buFont typeface="+mj-lt"/>
              <a:buAutoNum type="alphaLcPeriod"/>
              <a:defRPr sz="1800"/>
            </a:lvl2pPr>
            <a:lvl3pPr marL="1371600" indent="-342900">
              <a:buFont typeface="+mj-lt"/>
              <a:buAutoNum type="arabicPeriod"/>
              <a:defRPr sz="1800"/>
            </a:lvl3pPr>
            <a:lvl4pPr marL="1600200" indent="-342900">
              <a:buFont typeface="+mj-lt"/>
              <a:buAutoNum type="alphaLcParenR"/>
              <a:defRPr sz="1800"/>
            </a:lvl4pPr>
            <a:lvl5pPr marL="2057400" indent="-400050">
              <a:buFont typeface="+mj-lt"/>
              <a:buAutoNum type="romanLcPeriod"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282437" y="2187361"/>
            <a:ext cx="7442203" cy="3633047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0">
              <a:defRPr sz="1800"/>
            </a:lvl2pPr>
            <a:lvl3pPr marL="548640">
              <a:defRPr sz="1800"/>
            </a:lvl3pPr>
            <a:lvl4pPr marL="822960">
              <a:defRPr sz="1800"/>
            </a:lvl4pPr>
            <a:lvl5pPr marL="1097280"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57200" y="6423914"/>
            <a:ext cx="704120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558300" y="6423914"/>
            <a:ext cx="116634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983384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subtitle +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08219" y="741363"/>
            <a:ext cx="5626579" cy="1286219"/>
          </a:xfrm>
        </p:spPr>
        <p:txBody>
          <a:bodyPr anchor="b">
            <a:noAutofit/>
          </a:bodyPr>
          <a:lstStyle>
            <a:lvl1pPr algn="l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FCBE840D-FAED-31D9-AF31-112670D0FA2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" y="761684"/>
            <a:ext cx="5171440" cy="5662230"/>
          </a:xfrm>
          <a:custGeom>
            <a:avLst/>
            <a:gdLst>
              <a:gd name="connsiteX0" fmla="*/ 0 w 5171440"/>
              <a:gd name="connsiteY0" fmla="*/ 5056400 h 5662230"/>
              <a:gd name="connsiteX1" fmla="*/ 3685975 w 5171440"/>
              <a:gd name="connsiteY1" fmla="*/ 5056400 h 5662230"/>
              <a:gd name="connsiteX2" fmla="*/ 3685975 w 5171440"/>
              <a:gd name="connsiteY2" fmla="*/ 5662230 h 5662230"/>
              <a:gd name="connsiteX3" fmla="*/ 0 w 5171440"/>
              <a:gd name="connsiteY3" fmla="*/ 5662230 h 5662230"/>
              <a:gd name="connsiteX4" fmla="*/ 3789884 w 5171440"/>
              <a:gd name="connsiteY4" fmla="*/ 0 h 5662230"/>
              <a:gd name="connsiteX5" fmla="*/ 5171440 w 5171440"/>
              <a:gd name="connsiteY5" fmla="*/ 0 h 5662230"/>
              <a:gd name="connsiteX6" fmla="*/ 5171440 w 5171440"/>
              <a:gd name="connsiteY6" fmla="*/ 5662230 h 5662230"/>
              <a:gd name="connsiteX7" fmla="*/ 3789884 w 5171440"/>
              <a:gd name="connsiteY7" fmla="*/ 5662230 h 5662230"/>
              <a:gd name="connsiteX8" fmla="*/ 3789884 w 5171440"/>
              <a:gd name="connsiteY8" fmla="*/ 5056400 h 5662230"/>
              <a:gd name="connsiteX9" fmla="*/ 5168980 w 5171440"/>
              <a:gd name="connsiteY9" fmla="*/ 5056400 h 5662230"/>
              <a:gd name="connsiteX10" fmla="*/ 5168980 w 5171440"/>
              <a:gd name="connsiteY10" fmla="*/ 4956108 h 5662230"/>
              <a:gd name="connsiteX11" fmla="*/ 3789884 w 5171440"/>
              <a:gd name="connsiteY11" fmla="*/ 4956108 h 5662230"/>
              <a:gd name="connsiteX12" fmla="*/ 0 w 5171440"/>
              <a:gd name="connsiteY12" fmla="*/ 0 h 5662230"/>
              <a:gd name="connsiteX13" fmla="*/ 3685975 w 5171440"/>
              <a:gd name="connsiteY13" fmla="*/ 0 h 5662230"/>
              <a:gd name="connsiteX14" fmla="*/ 3685975 w 5171440"/>
              <a:gd name="connsiteY14" fmla="*/ 4956108 h 5662230"/>
              <a:gd name="connsiteX15" fmla="*/ 0 w 5171440"/>
              <a:gd name="connsiteY15" fmla="*/ 4956108 h 56622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71440" h="5662230">
                <a:moveTo>
                  <a:pt x="0" y="5056400"/>
                </a:moveTo>
                <a:lnTo>
                  <a:pt x="3685975" y="5056400"/>
                </a:lnTo>
                <a:lnTo>
                  <a:pt x="3685975" y="5662230"/>
                </a:lnTo>
                <a:lnTo>
                  <a:pt x="0" y="5662230"/>
                </a:lnTo>
                <a:close/>
                <a:moveTo>
                  <a:pt x="3789884" y="0"/>
                </a:moveTo>
                <a:lnTo>
                  <a:pt x="5171440" y="0"/>
                </a:lnTo>
                <a:lnTo>
                  <a:pt x="5171440" y="5662230"/>
                </a:lnTo>
                <a:lnTo>
                  <a:pt x="3789884" y="5662230"/>
                </a:lnTo>
                <a:lnTo>
                  <a:pt x="3789884" y="5056400"/>
                </a:lnTo>
                <a:lnTo>
                  <a:pt x="5168980" y="5056400"/>
                </a:lnTo>
                <a:lnTo>
                  <a:pt x="5168980" y="4956108"/>
                </a:lnTo>
                <a:lnTo>
                  <a:pt x="3789884" y="4956108"/>
                </a:lnTo>
                <a:close/>
                <a:moveTo>
                  <a:pt x="0" y="0"/>
                </a:moveTo>
                <a:lnTo>
                  <a:pt x="3685975" y="0"/>
                </a:lnTo>
                <a:lnTo>
                  <a:pt x="3685975" y="4956108"/>
                </a:lnTo>
                <a:lnTo>
                  <a:pt x="0" y="4956108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E22983C-26B8-DE15-E309-D0E93B8C699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106160" y="2235200"/>
            <a:ext cx="5628639" cy="4188713"/>
          </a:xfrm>
        </p:spPr>
        <p:txBody>
          <a:bodyPr anchor="t" anchorCtr="0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7D599-49CF-19FE-6D86-C5EDB765F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070940-5919-2C95-2278-32E50BF14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931DF1-1C8D-86B9-BFDD-098FFC00F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82289" y="6423914"/>
            <a:ext cx="1052510" cy="365125"/>
          </a:xfrm>
        </p:spPr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263364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+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040" y="725444"/>
            <a:ext cx="11277600" cy="1044253"/>
          </a:xfrm>
        </p:spPr>
        <p:txBody>
          <a:bodyPr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2245360"/>
            <a:ext cx="3342640" cy="3992880"/>
          </a:xfrm>
        </p:spPr>
        <p:txBody>
          <a:bodyPr anchor="t"/>
          <a:lstStyle>
            <a:lvl1pPr marL="0" indent="0">
              <a:buNone/>
              <a:defRPr/>
            </a:lvl1pPr>
            <a:lvl2pPr marL="324000" indent="0">
              <a:buNone/>
              <a:defRPr/>
            </a:lvl2pPr>
            <a:lvl3pPr marL="630000" indent="0">
              <a:buNone/>
              <a:defRPr/>
            </a:lvl3pPr>
            <a:lvl4pPr marL="1008000" indent="0">
              <a:buNone/>
              <a:defRPr/>
            </a:lvl4pPr>
            <a:lvl5pPr marL="1368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423FEB60-8FB5-7F10-EDD7-8AB4B3139EF6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4236720" y="2236109"/>
            <a:ext cx="7498080" cy="4002131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82290" y="6423914"/>
            <a:ext cx="1052510" cy="365125"/>
          </a:xfrm>
        </p:spPr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52918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690880"/>
            <a:ext cx="1126744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57200" y="2318490"/>
            <a:ext cx="7371083" cy="3633047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0">
              <a:defRPr sz="1800"/>
            </a:lvl2pPr>
            <a:lvl3pPr marL="548640">
              <a:defRPr sz="1800"/>
            </a:lvl3pPr>
            <a:lvl4pPr marL="822960">
              <a:defRPr sz="1800"/>
            </a:lvl4pPr>
            <a:lvl5pPr marL="1097280"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8E6EDC6B-B9AA-A4D9-A782-C38A0F84F63F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7993378" y="2318490"/>
            <a:ext cx="3731262" cy="3633047"/>
          </a:xfrm>
        </p:spPr>
        <p:txBody>
          <a:bodyPr anchor="t">
            <a:normAutofit/>
          </a:bodyPr>
          <a:lstStyle>
            <a:lvl1pPr marL="0" indent="-342900">
              <a:buFont typeface="+mj-lt"/>
              <a:buAutoNum type="arabicPeriod"/>
              <a:defRPr sz="1800"/>
            </a:lvl1pPr>
            <a:lvl2pPr marL="914400" indent="-342900">
              <a:buFont typeface="+mj-lt"/>
              <a:buAutoNum type="alphaLcPeriod"/>
              <a:defRPr sz="1800"/>
            </a:lvl2pPr>
            <a:lvl3pPr marL="1371600" indent="-342900">
              <a:buFont typeface="+mj-lt"/>
              <a:buAutoNum type="arabicPeriod"/>
              <a:defRPr sz="1800"/>
            </a:lvl3pPr>
            <a:lvl4pPr marL="1600200" indent="-342900">
              <a:buFont typeface="+mj-lt"/>
              <a:buAutoNum type="alphaLcParenR"/>
              <a:defRPr sz="1800"/>
            </a:lvl4pPr>
            <a:lvl5pPr marL="2057400" indent="-400050">
              <a:buFont typeface="+mj-lt"/>
              <a:buAutoNum type="romanLcPeriod"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57200" y="6423914"/>
            <a:ext cx="704120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558300" y="6423914"/>
            <a:ext cx="116634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68264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705124"/>
            <a:ext cx="11272649" cy="1062716"/>
          </a:xfrm>
        </p:spPr>
        <p:txBody>
          <a:bodyPr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0CEAFE70-86D3-8690-31CA-F9A1FBA494D0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457201" y="2234979"/>
            <a:ext cx="11272648" cy="3969606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23914"/>
            <a:ext cx="1171548" cy="365125"/>
          </a:xfrm>
        </p:spPr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626445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0F196A1-2430-4797-B656-A38302FAF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151" y="666984"/>
            <a:ext cx="3672970" cy="2125911"/>
          </a:xfrm>
        </p:spPr>
        <p:txBody>
          <a:bodyPr>
            <a:noAutofit/>
          </a:bodyPr>
          <a:lstStyle>
            <a:lvl1pPr algn="l">
              <a:defRPr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5A0AD703-0A43-5323-CCB2-832D424EF2DB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62151" y="2862479"/>
            <a:ext cx="3672970" cy="3491849"/>
          </a:xfrm>
        </p:spPr>
        <p:txBody>
          <a:bodyPr anchor="t" anchorCtr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US" noProof="0" dirty="0"/>
              <a:t>Click to add text 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627B629-9CBE-3ECF-2D88-F07AACD0374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231970" y="666985"/>
            <a:ext cx="7497880" cy="5687344"/>
          </a:xfrm>
          <a:custGeom>
            <a:avLst/>
            <a:gdLst>
              <a:gd name="connsiteX0" fmla="*/ 3803282 w 7497880"/>
              <a:gd name="connsiteY0" fmla="*/ 0 h 5687344"/>
              <a:gd name="connsiteX1" fmla="*/ 7497880 w 7497880"/>
              <a:gd name="connsiteY1" fmla="*/ 0 h 5687344"/>
              <a:gd name="connsiteX2" fmla="*/ 7497880 w 7497880"/>
              <a:gd name="connsiteY2" fmla="*/ 4581885 h 5687344"/>
              <a:gd name="connsiteX3" fmla="*/ 3803282 w 7497880"/>
              <a:gd name="connsiteY3" fmla="*/ 4581885 h 5687344"/>
              <a:gd name="connsiteX4" fmla="*/ 0 w 7497880"/>
              <a:gd name="connsiteY4" fmla="*/ 0 h 5687344"/>
              <a:gd name="connsiteX5" fmla="*/ 3699373 w 7497880"/>
              <a:gd name="connsiteY5" fmla="*/ 0 h 5687344"/>
              <a:gd name="connsiteX6" fmla="*/ 3699373 w 7497880"/>
              <a:gd name="connsiteY6" fmla="*/ 4581885 h 5687344"/>
              <a:gd name="connsiteX7" fmla="*/ 2 w 7497880"/>
              <a:gd name="connsiteY7" fmla="*/ 4581885 h 5687344"/>
              <a:gd name="connsiteX8" fmla="*/ 2 w 7497880"/>
              <a:gd name="connsiteY8" fmla="*/ 4679200 h 5687344"/>
              <a:gd name="connsiteX9" fmla="*/ 3699373 w 7497880"/>
              <a:gd name="connsiteY9" fmla="*/ 4679200 h 5687344"/>
              <a:gd name="connsiteX10" fmla="*/ 3699373 w 7497880"/>
              <a:gd name="connsiteY10" fmla="*/ 5679350 h 5687344"/>
              <a:gd name="connsiteX11" fmla="*/ 3803282 w 7497880"/>
              <a:gd name="connsiteY11" fmla="*/ 5679350 h 5687344"/>
              <a:gd name="connsiteX12" fmla="*/ 3803282 w 7497880"/>
              <a:gd name="connsiteY12" fmla="*/ 4679200 h 5687344"/>
              <a:gd name="connsiteX13" fmla="*/ 7497880 w 7497880"/>
              <a:gd name="connsiteY13" fmla="*/ 4679200 h 5687344"/>
              <a:gd name="connsiteX14" fmla="*/ 7497880 w 7497880"/>
              <a:gd name="connsiteY14" fmla="*/ 5687344 h 5687344"/>
              <a:gd name="connsiteX15" fmla="*/ 0 w 7497880"/>
              <a:gd name="connsiteY15" fmla="*/ 5687344 h 5687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497880" h="5687344">
                <a:moveTo>
                  <a:pt x="3803282" y="0"/>
                </a:moveTo>
                <a:lnTo>
                  <a:pt x="7497880" y="0"/>
                </a:lnTo>
                <a:lnTo>
                  <a:pt x="7497880" y="4581885"/>
                </a:lnTo>
                <a:lnTo>
                  <a:pt x="3803282" y="4581885"/>
                </a:lnTo>
                <a:close/>
                <a:moveTo>
                  <a:pt x="0" y="0"/>
                </a:moveTo>
                <a:lnTo>
                  <a:pt x="3699373" y="0"/>
                </a:lnTo>
                <a:lnTo>
                  <a:pt x="3699373" y="4581885"/>
                </a:lnTo>
                <a:lnTo>
                  <a:pt x="2" y="4581885"/>
                </a:lnTo>
                <a:lnTo>
                  <a:pt x="2" y="4679200"/>
                </a:lnTo>
                <a:lnTo>
                  <a:pt x="3699373" y="4679200"/>
                </a:lnTo>
                <a:lnTo>
                  <a:pt x="3699373" y="5679350"/>
                </a:lnTo>
                <a:lnTo>
                  <a:pt x="3803282" y="5679350"/>
                </a:lnTo>
                <a:lnTo>
                  <a:pt x="3803282" y="4679200"/>
                </a:lnTo>
                <a:lnTo>
                  <a:pt x="7497880" y="4679200"/>
                </a:lnTo>
                <a:lnTo>
                  <a:pt x="7497880" y="5687344"/>
                </a:lnTo>
                <a:lnTo>
                  <a:pt x="0" y="5687344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t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Click to add picture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0DD7D93-4C4D-E385-9F8C-40536F0BDEA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noProof="0"/>
              <a:t>20XX</a:t>
            </a:r>
            <a:endParaRPr lang="en-US" noProof="0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C99FA72-244D-9DC3-C9B7-E7DAD50A01F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25A4F6F-66FD-CDA5-7F8F-F5FD6382CFC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677340" y="6423914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892311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457D222-120F-E222-DE7E-B44B0BC1863F}"/>
              </a:ext>
            </a:extLst>
          </p:cNvPr>
          <p:cNvGrpSpPr/>
          <p:nvPr userDrawn="1"/>
        </p:nvGrpSpPr>
        <p:grpSpPr>
          <a:xfrm>
            <a:off x="428696" y="482137"/>
            <a:ext cx="11301155" cy="81191"/>
            <a:chOff x="428696" y="482137"/>
            <a:chExt cx="11301155" cy="8119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9DF259B-1168-B954-21F8-A08A3C462F3C}"/>
                </a:ext>
              </a:extLst>
            </p:cNvPr>
            <p:cNvSpPr/>
            <p:nvPr/>
          </p:nvSpPr>
          <p:spPr>
            <a:xfrm flipV="1">
              <a:off x="428696" y="482137"/>
              <a:ext cx="3703321" cy="81191"/>
            </a:xfrm>
            <a:prstGeom prst="rect">
              <a:avLst/>
            </a:prstGeom>
            <a:solidFill>
              <a:schemeClr val="accent3"/>
            </a:solidFill>
            <a:ln w="539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B5A595C-AA3A-9D82-01BB-7810CE5F7A5E}"/>
                </a:ext>
              </a:extLst>
            </p:cNvPr>
            <p:cNvSpPr/>
            <p:nvPr/>
          </p:nvSpPr>
          <p:spPr>
            <a:xfrm flipV="1">
              <a:off x="4235926" y="482137"/>
              <a:ext cx="3703321" cy="81191"/>
            </a:xfrm>
            <a:prstGeom prst="rect">
              <a:avLst/>
            </a:prstGeom>
            <a:solidFill>
              <a:schemeClr val="accent1"/>
            </a:solidFill>
            <a:ln w="539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178CB63-8F78-566B-8120-9DC73FB7B23B}"/>
                </a:ext>
              </a:extLst>
            </p:cNvPr>
            <p:cNvSpPr/>
            <p:nvPr/>
          </p:nvSpPr>
          <p:spPr>
            <a:xfrm flipV="1">
              <a:off x="8026530" y="482137"/>
              <a:ext cx="3703321" cy="81191"/>
            </a:xfrm>
            <a:prstGeom prst="rect">
              <a:avLst/>
            </a:prstGeom>
            <a:solidFill>
              <a:schemeClr val="accent4"/>
            </a:solidFill>
            <a:ln w="539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10910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0" r:id="rId1"/>
    <p:sldLayoutId id="2147483801" r:id="rId2"/>
    <p:sldLayoutId id="2147483802" r:id="rId3"/>
    <p:sldLayoutId id="2147483803" r:id="rId4"/>
    <p:sldLayoutId id="2147483804" r:id="rId5"/>
    <p:sldLayoutId id="2147483805" r:id="rId6"/>
    <p:sldLayoutId id="2147483806" r:id="rId7"/>
    <p:sldLayoutId id="2147483807" r:id="rId8"/>
    <p:sldLayoutId id="2147483808" r:id="rId9"/>
    <p:sldLayoutId id="2147483809" r:id="rId10"/>
    <p:sldLayoutId id="2147483810" r:id="rId11"/>
    <p:sldLayoutId id="2147483812" r:id="rId12"/>
    <p:sldLayoutId id="2147483813" r:id="rId13"/>
    <p:sldLayoutId id="2147483814" r:id="rId14"/>
    <p:sldLayoutId id="2147483815" r:id="rId15"/>
    <p:sldLayoutId id="2147483816" r:id="rId16"/>
    <p:sldLayoutId id="2147483817" r:id="rId17"/>
    <p:sldLayoutId id="2147483818" r:id="rId18"/>
    <p:sldLayoutId id="2147483819" r:id="rId19"/>
    <p:sldLayoutId id="2147483820" r:id="rId20"/>
    <p:sldLayoutId id="2147483821" r:id="rId21"/>
    <p:sldLayoutId id="2147483822" r:id="rId22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forms/d/e/1FAIpQLSclH8padHr9zwdQVx9YY_yeM_4OqD1OQFvYcYpAQKaqC6Vscg/viewform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4.jpg"/><Relationship Id="rId5" Type="http://schemas.openxmlformats.org/officeDocument/2006/relationships/image" Target="../media/image3.png"/><Relationship Id="rId4" Type="http://schemas.openxmlformats.org/officeDocument/2006/relationships/hyperlink" Target="https://www.nature.com/articles/sdata201811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FB23E1E4-7CB2-923B-9D41-672CB85E0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3D </a:t>
            </a:r>
            <a:r>
              <a:rPr lang="en-US" dirty="0" err="1"/>
              <a:t>BraiN</a:t>
            </a:r>
            <a:r>
              <a:rPr lang="en-US" dirty="0"/>
              <a:t> STROKE SEGMENTATION using U-NET	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A667A9A-3428-68BE-D555-0DE1859FDF8A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GitHub link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endParaRPr lang="en-US" dirty="0"/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882A692F-79BA-491A-5E90-C84F8A15C92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18011" b="18011"/>
          <a:stretch>
            <a:fillRect/>
          </a:stretch>
        </p:blipFill>
        <p:spPr>
          <a:custGeom>
            <a:avLst/>
            <a:gdLst>
              <a:gd name="connsiteX0" fmla="*/ 3800341 w 7491984"/>
              <a:gd name="connsiteY0" fmla="*/ 0 h 5751576"/>
              <a:gd name="connsiteX1" fmla="*/ 7491984 w 7491984"/>
              <a:gd name="connsiteY1" fmla="*/ 0 h 5751576"/>
              <a:gd name="connsiteX2" fmla="*/ 7491984 w 7491984"/>
              <a:gd name="connsiteY2" fmla="*/ 5751576 h 5751576"/>
              <a:gd name="connsiteX3" fmla="*/ 3800341 w 7491984"/>
              <a:gd name="connsiteY3" fmla="*/ 5751576 h 5751576"/>
              <a:gd name="connsiteX4" fmla="*/ 0 w 7491984"/>
              <a:gd name="connsiteY4" fmla="*/ 0 h 5751576"/>
              <a:gd name="connsiteX5" fmla="*/ 3696432 w 7491984"/>
              <a:gd name="connsiteY5" fmla="*/ 0 h 5751576"/>
              <a:gd name="connsiteX6" fmla="*/ 3696432 w 7491984"/>
              <a:gd name="connsiteY6" fmla="*/ 5751576 h 5751576"/>
              <a:gd name="connsiteX7" fmla="*/ 0 w 7491984"/>
              <a:gd name="connsiteY7" fmla="*/ 5751576 h 5751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491984" h="5751576">
                <a:moveTo>
                  <a:pt x="3800341" y="0"/>
                </a:moveTo>
                <a:lnTo>
                  <a:pt x="7491984" y="0"/>
                </a:lnTo>
                <a:lnTo>
                  <a:pt x="7491984" y="5751576"/>
                </a:lnTo>
                <a:lnTo>
                  <a:pt x="3800341" y="5751576"/>
                </a:lnTo>
                <a:close/>
                <a:moveTo>
                  <a:pt x="0" y="0"/>
                </a:moveTo>
                <a:lnTo>
                  <a:pt x="3696432" y="0"/>
                </a:lnTo>
                <a:lnTo>
                  <a:pt x="3696432" y="5751576"/>
                </a:lnTo>
                <a:lnTo>
                  <a:pt x="0" y="5751576"/>
                </a:lnTo>
                <a:close/>
              </a:path>
            </a:pathLst>
          </a:custGeom>
          <a:solidFill>
            <a:srgbClr val="E6C46D"/>
          </a:solidFill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DB2797-6A69-A23F-67C9-498270F68543}"/>
              </a:ext>
            </a:extLst>
          </p:cNvPr>
          <p:cNvSpPr txBox="1"/>
          <p:nvPr/>
        </p:nvSpPr>
        <p:spPr>
          <a:xfrm>
            <a:off x="457200" y="3830794"/>
            <a:ext cx="299372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Mirko Di Biase</a:t>
            </a:r>
          </a:p>
          <a:p>
            <a:r>
              <a:rPr lang="en-US" dirty="0"/>
              <a:t>ID: 792726</a:t>
            </a:r>
          </a:p>
          <a:p>
            <a:r>
              <a:rPr lang="en-US" dirty="0"/>
              <a:t>Data Science Lab, Medicine module - project work</a:t>
            </a:r>
          </a:p>
        </p:txBody>
      </p:sp>
    </p:spTree>
    <p:extLst>
      <p:ext uri="{BB962C8B-B14F-4D97-AF65-F5344CB8AC3E}">
        <p14:creationId xmlns:p14="http://schemas.microsoft.com/office/powerpoint/2010/main" val="2201125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25">
            <a:extLst>
              <a:ext uri="{FF2B5EF4-FFF2-40B4-BE49-F238E27FC236}">
                <a16:creationId xmlns:a16="http://schemas.microsoft.com/office/drawing/2014/main" id="{D715DBBC-70C2-E94B-9B03-12910F0B54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33170" y="-148095"/>
            <a:ext cx="5626579" cy="1286219"/>
          </a:xfrm>
        </p:spPr>
        <p:txBody>
          <a:bodyPr/>
          <a:lstStyle/>
          <a:p>
            <a:r>
              <a:rPr lang="en-US" dirty="0"/>
              <a:t>BRAIN STROKE INTRODUCTION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675172A-E71B-4763-4AD6-991B10C3DCE1}"/>
              </a:ext>
            </a:extLst>
          </p:cNvPr>
          <p:cNvSpPr/>
          <p:nvPr/>
        </p:nvSpPr>
        <p:spPr>
          <a:xfrm>
            <a:off x="5428200" y="1275672"/>
            <a:ext cx="6349907" cy="949935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Content Placeholder 32">
            <a:extLst>
              <a:ext uri="{FF2B5EF4-FFF2-40B4-BE49-F238E27FC236}">
                <a16:creationId xmlns:a16="http://schemas.microsoft.com/office/drawing/2014/main" id="{D3AEB1C4-FB60-9B8E-5A02-0BCD2B6E55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71509" y="1451781"/>
            <a:ext cx="6263291" cy="7738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700" b="1" dirty="0"/>
              <a:t>Neurological deficit </a:t>
            </a:r>
            <a:r>
              <a:rPr lang="en-US" sz="1700" dirty="0"/>
              <a:t>related to an acute focal injury of the central nervous system by a </a:t>
            </a:r>
            <a:r>
              <a:rPr lang="en-US" sz="1700" b="1" dirty="0"/>
              <a:t>vascular cause  </a:t>
            </a:r>
            <a:r>
              <a:rPr lang="en-US" sz="1700" dirty="0"/>
              <a:t>[Sacco et al. 2013]</a:t>
            </a: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DFDBC68B-C6CE-ED30-7373-849F6C26D98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33364" r="33364"/>
          <a:stretch>
            <a:fillRect/>
          </a:stretch>
        </p:blipFill>
        <p:spPr>
          <a:xfrm>
            <a:off x="457200" y="761684"/>
            <a:ext cx="4828784" cy="5662230"/>
          </a:xfrm>
          <a:custGeom>
            <a:avLst/>
            <a:gdLst>
              <a:gd name="connsiteX0" fmla="*/ 0 w 5171440"/>
              <a:gd name="connsiteY0" fmla="*/ 5056400 h 5662230"/>
              <a:gd name="connsiteX1" fmla="*/ 3685975 w 5171440"/>
              <a:gd name="connsiteY1" fmla="*/ 5056400 h 5662230"/>
              <a:gd name="connsiteX2" fmla="*/ 3685975 w 5171440"/>
              <a:gd name="connsiteY2" fmla="*/ 5662230 h 5662230"/>
              <a:gd name="connsiteX3" fmla="*/ 0 w 5171440"/>
              <a:gd name="connsiteY3" fmla="*/ 5662230 h 5662230"/>
              <a:gd name="connsiteX4" fmla="*/ 3789884 w 5171440"/>
              <a:gd name="connsiteY4" fmla="*/ 0 h 5662230"/>
              <a:gd name="connsiteX5" fmla="*/ 5171440 w 5171440"/>
              <a:gd name="connsiteY5" fmla="*/ 0 h 5662230"/>
              <a:gd name="connsiteX6" fmla="*/ 5171440 w 5171440"/>
              <a:gd name="connsiteY6" fmla="*/ 5662230 h 5662230"/>
              <a:gd name="connsiteX7" fmla="*/ 3789884 w 5171440"/>
              <a:gd name="connsiteY7" fmla="*/ 5662230 h 5662230"/>
              <a:gd name="connsiteX8" fmla="*/ 3789884 w 5171440"/>
              <a:gd name="connsiteY8" fmla="*/ 5056400 h 5662230"/>
              <a:gd name="connsiteX9" fmla="*/ 5168980 w 5171440"/>
              <a:gd name="connsiteY9" fmla="*/ 5056400 h 5662230"/>
              <a:gd name="connsiteX10" fmla="*/ 5168980 w 5171440"/>
              <a:gd name="connsiteY10" fmla="*/ 4956108 h 5662230"/>
              <a:gd name="connsiteX11" fmla="*/ 3789884 w 5171440"/>
              <a:gd name="connsiteY11" fmla="*/ 4956108 h 5662230"/>
              <a:gd name="connsiteX12" fmla="*/ 0 w 5171440"/>
              <a:gd name="connsiteY12" fmla="*/ 0 h 5662230"/>
              <a:gd name="connsiteX13" fmla="*/ 3685975 w 5171440"/>
              <a:gd name="connsiteY13" fmla="*/ 0 h 5662230"/>
              <a:gd name="connsiteX14" fmla="*/ 3685975 w 5171440"/>
              <a:gd name="connsiteY14" fmla="*/ 4956108 h 5662230"/>
              <a:gd name="connsiteX15" fmla="*/ 0 w 5171440"/>
              <a:gd name="connsiteY15" fmla="*/ 4956108 h 56622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71440" h="5662230">
                <a:moveTo>
                  <a:pt x="0" y="5056400"/>
                </a:moveTo>
                <a:lnTo>
                  <a:pt x="3685975" y="5056400"/>
                </a:lnTo>
                <a:lnTo>
                  <a:pt x="3685975" y="5662230"/>
                </a:lnTo>
                <a:lnTo>
                  <a:pt x="0" y="5662230"/>
                </a:lnTo>
                <a:close/>
                <a:moveTo>
                  <a:pt x="3789884" y="0"/>
                </a:moveTo>
                <a:lnTo>
                  <a:pt x="5171440" y="0"/>
                </a:lnTo>
                <a:lnTo>
                  <a:pt x="5171440" y="5662230"/>
                </a:lnTo>
                <a:lnTo>
                  <a:pt x="3789884" y="5662230"/>
                </a:lnTo>
                <a:lnTo>
                  <a:pt x="3789884" y="5056400"/>
                </a:lnTo>
                <a:lnTo>
                  <a:pt x="5168980" y="5056400"/>
                </a:lnTo>
                <a:lnTo>
                  <a:pt x="5168980" y="4956108"/>
                </a:lnTo>
                <a:lnTo>
                  <a:pt x="3789884" y="4956108"/>
                </a:lnTo>
                <a:close/>
                <a:moveTo>
                  <a:pt x="0" y="0"/>
                </a:moveTo>
                <a:lnTo>
                  <a:pt x="3685975" y="0"/>
                </a:lnTo>
                <a:lnTo>
                  <a:pt x="3685975" y="4956108"/>
                </a:lnTo>
                <a:lnTo>
                  <a:pt x="0" y="4956108"/>
                </a:lnTo>
                <a:close/>
              </a:path>
            </a:pathLst>
          </a:custGeom>
          <a:solidFill>
            <a:srgbClr val="E6C46D"/>
          </a:solidFill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DE8FF97-4120-AC06-2C19-DB21AC219B3C}"/>
              </a:ext>
            </a:extLst>
          </p:cNvPr>
          <p:cNvSpPr/>
          <p:nvPr/>
        </p:nvSpPr>
        <p:spPr>
          <a:xfrm>
            <a:off x="5471509" y="2394548"/>
            <a:ext cx="6349907" cy="158531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32">
            <a:extLst>
              <a:ext uri="{FF2B5EF4-FFF2-40B4-BE49-F238E27FC236}">
                <a16:creationId xmlns:a16="http://schemas.microsoft.com/office/drawing/2014/main" id="{25CBFDB7-A696-CDD7-957E-3BD62CEE1E32}"/>
              </a:ext>
            </a:extLst>
          </p:cNvPr>
          <p:cNvSpPr txBox="1">
            <a:spLocks/>
          </p:cNvSpPr>
          <p:nvPr/>
        </p:nvSpPr>
        <p:spPr>
          <a:xfrm>
            <a:off x="5514816" y="2486646"/>
            <a:ext cx="6263291" cy="164451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 fontScale="625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700" dirty="0"/>
              <a:t>Two main different types of stroke do exist [Gomes, Wachsman, 2013]: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400" b="1" dirty="0"/>
              <a:t>ischemic</a:t>
            </a:r>
            <a:r>
              <a:rPr lang="en-US" sz="2400" dirty="0"/>
              <a:t> due to vessels occlusion, leading to the blood flow  interruption to brain areas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400" b="1" dirty="0" err="1"/>
              <a:t>hemorragic</a:t>
            </a:r>
            <a:r>
              <a:rPr lang="en-US" sz="2400" dirty="0"/>
              <a:t> due to vessels bleeding causing direct damage to brain tissue</a:t>
            </a:r>
          </a:p>
          <a:p>
            <a:endParaRPr lang="en-US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8E372AA-1CBA-F540-B7E2-D5C47B915F96}"/>
              </a:ext>
            </a:extLst>
          </p:cNvPr>
          <p:cNvSpPr/>
          <p:nvPr/>
        </p:nvSpPr>
        <p:spPr>
          <a:xfrm>
            <a:off x="5471507" y="4144313"/>
            <a:ext cx="6349907" cy="2279601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32">
            <a:extLst>
              <a:ext uri="{FF2B5EF4-FFF2-40B4-BE49-F238E27FC236}">
                <a16:creationId xmlns:a16="http://schemas.microsoft.com/office/drawing/2014/main" id="{0EBD4982-5C44-266B-1EE2-EC219B01F0A8}"/>
              </a:ext>
            </a:extLst>
          </p:cNvPr>
          <p:cNvSpPr txBox="1">
            <a:spLocks/>
          </p:cNvSpPr>
          <p:nvPr/>
        </p:nvSpPr>
        <p:spPr>
          <a:xfrm>
            <a:off x="5471509" y="4293515"/>
            <a:ext cx="6349905" cy="200203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 dirty="0"/>
              <a:t>Stroke-related impairments could be [Jambi et al. 2024]: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1400" b="1" dirty="0"/>
              <a:t>Physical</a:t>
            </a:r>
            <a:r>
              <a:rPr lang="en-US" sz="1400" dirty="0"/>
              <a:t>: paralysis, balance and coordination deficits affecting mobility and daily activities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1400" b="1" dirty="0"/>
              <a:t>Cognitive:</a:t>
            </a:r>
            <a:r>
              <a:rPr lang="en-US" sz="1400" dirty="0"/>
              <a:t> memory, attention, reasoning and decision-making difficulties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1400" b="1" dirty="0"/>
              <a:t>Communication</a:t>
            </a:r>
            <a:r>
              <a:rPr lang="en-US" sz="1400" dirty="0"/>
              <a:t>: aphasia, speech and swallowing disorders limiting interaction</a:t>
            </a:r>
          </a:p>
          <a:p>
            <a:pPr marL="0" indent="0">
              <a:buNone/>
            </a:pPr>
            <a:r>
              <a:rPr lang="en-US" sz="1700" b="1" dirty="0"/>
              <a:t>    </a:t>
            </a:r>
            <a:endParaRPr lang="en-US" sz="1700" dirty="0"/>
          </a:p>
          <a:p>
            <a:endParaRPr lang="en-US" sz="1700" dirty="0"/>
          </a:p>
          <a:p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38544424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618A4-5020-A570-BAAC-71C22849B3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360" y="1417361"/>
            <a:ext cx="3729789" cy="2796199"/>
          </a:xfrm>
        </p:spPr>
        <p:txBody>
          <a:bodyPr/>
          <a:lstStyle/>
          <a:p>
            <a:r>
              <a:rPr lang="en-US" dirty="0"/>
              <a:t>DATASET PRESENTATION &amp; references</a:t>
            </a:r>
            <a:br>
              <a:rPr lang="en-US" dirty="0"/>
            </a:b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9475E86-FFB0-87BC-084C-C728916152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62024" y="3015877"/>
            <a:ext cx="7418813" cy="3440485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The 3</a:t>
            </a:r>
            <a:r>
              <a:rPr lang="en-US" baseline="30000" dirty="0"/>
              <a:t>rd</a:t>
            </a:r>
            <a:r>
              <a:rPr lang="en-US" dirty="0"/>
              <a:t> release of the dataset includes:</a:t>
            </a:r>
          </a:p>
          <a:p>
            <a:r>
              <a:rPr lang="en-US" dirty="0"/>
              <a:t>1453 T1-weighted MRI scans</a:t>
            </a:r>
          </a:p>
          <a:p>
            <a:r>
              <a:rPr lang="en-US" dirty="0"/>
              <a:t>1453 corresponding binary masks for stroke lesion mapping</a:t>
            </a:r>
          </a:p>
          <a:p>
            <a:r>
              <a:rPr lang="en-US" dirty="0"/>
              <a:t>1453 metadata csv files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It can be downloaded by making request to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</a:t>
            </a:r>
            <a:r>
              <a:rPr lang="en-US" dirty="0">
                <a:hlinkClick r:id="rId3"/>
              </a:rPr>
              <a:t>https://docs.google.com/forms/d/e/1FAIpQLSclH8padHr9zwdQVx9YY_yeM_4OqD1OQFvYcYpAQKaqC6Vscg/viewform</a:t>
            </a: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Raw data </a:t>
            </a:r>
            <a:r>
              <a:rPr lang="en-US" dirty="0"/>
              <a:t>have been taken into account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Original paper is edited by Liew et al. 2018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>
                <a:sym typeface="Wingdings" panose="05000000000000000000" pitchFamily="2" charset="2"/>
                <a:hlinkClick r:id="rId4"/>
              </a:rPr>
              <a:t>https://www.nature.com/articles/sdata201811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2299915-60EB-A50E-65D8-4D2A18B929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0292" y="693913"/>
            <a:ext cx="8280749" cy="1999183"/>
          </a:xfrm>
          <a:prstGeom prst="rect">
            <a:avLst/>
          </a:prstGeom>
        </p:spPr>
      </p:pic>
      <p:pic>
        <p:nvPicPr>
          <p:cNvPr id="18" name="Picture Placeholder 5">
            <a:extLst>
              <a:ext uri="{FF2B5EF4-FFF2-40B4-BE49-F238E27FC236}">
                <a16:creationId xmlns:a16="http://schemas.microsoft.com/office/drawing/2014/main" id="{E88F2DAD-B909-658D-7329-2627AA19050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6797" r="16797"/>
          <a:stretch>
            <a:fillRect/>
          </a:stretch>
        </p:blipFill>
        <p:spPr>
          <a:xfrm>
            <a:off x="311163" y="3416544"/>
            <a:ext cx="3340174" cy="2533612"/>
          </a:xfrm>
          <a:custGeom>
            <a:avLst/>
            <a:gdLst>
              <a:gd name="connsiteX0" fmla="*/ 3803282 w 7497880"/>
              <a:gd name="connsiteY0" fmla="*/ 0 h 5687344"/>
              <a:gd name="connsiteX1" fmla="*/ 7497880 w 7497880"/>
              <a:gd name="connsiteY1" fmla="*/ 0 h 5687344"/>
              <a:gd name="connsiteX2" fmla="*/ 7497880 w 7497880"/>
              <a:gd name="connsiteY2" fmla="*/ 4581885 h 5687344"/>
              <a:gd name="connsiteX3" fmla="*/ 3803282 w 7497880"/>
              <a:gd name="connsiteY3" fmla="*/ 4581885 h 5687344"/>
              <a:gd name="connsiteX4" fmla="*/ 0 w 7497880"/>
              <a:gd name="connsiteY4" fmla="*/ 0 h 5687344"/>
              <a:gd name="connsiteX5" fmla="*/ 3699373 w 7497880"/>
              <a:gd name="connsiteY5" fmla="*/ 0 h 5687344"/>
              <a:gd name="connsiteX6" fmla="*/ 3699373 w 7497880"/>
              <a:gd name="connsiteY6" fmla="*/ 4581885 h 5687344"/>
              <a:gd name="connsiteX7" fmla="*/ 2 w 7497880"/>
              <a:gd name="connsiteY7" fmla="*/ 4581885 h 5687344"/>
              <a:gd name="connsiteX8" fmla="*/ 2 w 7497880"/>
              <a:gd name="connsiteY8" fmla="*/ 4679200 h 5687344"/>
              <a:gd name="connsiteX9" fmla="*/ 3699373 w 7497880"/>
              <a:gd name="connsiteY9" fmla="*/ 4679200 h 5687344"/>
              <a:gd name="connsiteX10" fmla="*/ 3699373 w 7497880"/>
              <a:gd name="connsiteY10" fmla="*/ 5679350 h 5687344"/>
              <a:gd name="connsiteX11" fmla="*/ 3803282 w 7497880"/>
              <a:gd name="connsiteY11" fmla="*/ 5679350 h 5687344"/>
              <a:gd name="connsiteX12" fmla="*/ 3803282 w 7497880"/>
              <a:gd name="connsiteY12" fmla="*/ 4679200 h 5687344"/>
              <a:gd name="connsiteX13" fmla="*/ 7497880 w 7497880"/>
              <a:gd name="connsiteY13" fmla="*/ 4679200 h 5687344"/>
              <a:gd name="connsiteX14" fmla="*/ 7497880 w 7497880"/>
              <a:gd name="connsiteY14" fmla="*/ 5687344 h 5687344"/>
              <a:gd name="connsiteX15" fmla="*/ 0 w 7497880"/>
              <a:gd name="connsiteY15" fmla="*/ 5687344 h 5687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497880" h="5687344">
                <a:moveTo>
                  <a:pt x="3803282" y="0"/>
                </a:moveTo>
                <a:lnTo>
                  <a:pt x="7497880" y="0"/>
                </a:lnTo>
                <a:lnTo>
                  <a:pt x="7497880" y="4581885"/>
                </a:lnTo>
                <a:lnTo>
                  <a:pt x="3803282" y="4581885"/>
                </a:lnTo>
                <a:close/>
                <a:moveTo>
                  <a:pt x="0" y="0"/>
                </a:moveTo>
                <a:lnTo>
                  <a:pt x="3699373" y="0"/>
                </a:lnTo>
                <a:lnTo>
                  <a:pt x="3699373" y="4581885"/>
                </a:lnTo>
                <a:lnTo>
                  <a:pt x="2" y="4581885"/>
                </a:lnTo>
                <a:lnTo>
                  <a:pt x="2" y="4679200"/>
                </a:lnTo>
                <a:lnTo>
                  <a:pt x="3699373" y="4679200"/>
                </a:lnTo>
                <a:lnTo>
                  <a:pt x="3699373" y="5679350"/>
                </a:lnTo>
                <a:lnTo>
                  <a:pt x="3803282" y="5679350"/>
                </a:lnTo>
                <a:lnTo>
                  <a:pt x="3803282" y="4679200"/>
                </a:lnTo>
                <a:lnTo>
                  <a:pt x="7497880" y="4679200"/>
                </a:lnTo>
                <a:lnTo>
                  <a:pt x="7497880" y="5687344"/>
                </a:lnTo>
                <a:lnTo>
                  <a:pt x="0" y="5687344"/>
                </a:lnTo>
                <a:close/>
              </a:path>
            </a:pathLst>
          </a:custGeom>
          <a:solidFill>
            <a:srgbClr val="E6C46D"/>
          </a:solidFill>
        </p:spPr>
      </p:pic>
    </p:spTree>
    <p:extLst>
      <p:ext uri="{BB962C8B-B14F-4D97-AF65-F5344CB8AC3E}">
        <p14:creationId xmlns:p14="http://schemas.microsoft.com/office/powerpoint/2010/main" val="36958200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B68E91FE-1E96-9012-B0A7-9E9605A1D0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9580" y="352743"/>
            <a:ext cx="11292839" cy="1068961"/>
          </a:xfrm>
        </p:spPr>
        <p:txBody>
          <a:bodyPr>
            <a:normAutofit/>
          </a:bodyPr>
          <a:lstStyle/>
          <a:p>
            <a:r>
              <a:rPr lang="en-US" dirty="0"/>
              <a:t>Exploratory data analysis (1)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2FE7C7-1205-0DBF-54DA-9525AF764D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715" y="1764155"/>
            <a:ext cx="3767606" cy="2557324"/>
          </a:xfrm>
          <a:prstGeom prst="rect">
            <a:avLst/>
          </a:prstGeom>
        </p:spPr>
      </p:pic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68E36B77-2B3E-2D16-6768-7CB4AD7E2148}"/>
              </a:ext>
            </a:extLst>
          </p:cNvPr>
          <p:cNvSpPr txBox="1">
            <a:spLocks/>
          </p:cNvSpPr>
          <p:nvPr/>
        </p:nvSpPr>
        <p:spPr>
          <a:xfrm>
            <a:off x="197180" y="4565736"/>
            <a:ext cx="5257905" cy="1741119"/>
          </a:xfrm>
          <a:prstGeom prst="rect">
            <a:avLst/>
          </a:prstGeom>
          <a:noFill/>
        </p:spPr>
        <p:txBody>
          <a:bodyPr>
            <a:normAutofit fontScale="850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majority of MRI volumes are acquired in the Right Anterior Superior </a:t>
            </a:r>
            <a:r>
              <a:rPr lang="en-US" b="1" dirty="0"/>
              <a:t>(RAS) </a:t>
            </a:r>
            <a:r>
              <a:rPr lang="en-US" dirty="0"/>
              <a:t>orientation, for about the 60% out of the total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Nevertheless, a significative Left Anterior Superior </a:t>
            </a:r>
            <a:r>
              <a:rPr lang="en-US" b="1" dirty="0"/>
              <a:t>(LAS) </a:t>
            </a:r>
            <a:r>
              <a:rPr lang="en-US" dirty="0"/>
              <a:t>cluster of volumes (about 39%) is observed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Other orientation spaces are detected through extremely rare</a:t>
            </a:r>
          </a:p>
          <a:p>
            <a:pPr marL="324000" lvl="1" indent="0">
              <a:buNone/>
            </a:pP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0DF507A-4F14-7015-A0C5-ADC371D81D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999" y="1421704"/>
            <a:ext cx="4877680" cy="3206663"/>
          </a:xfrm>
          <a:prstGeom prst="rect">
            <a:avLst/>
          </a:prstGeom>
        </p:spPr>
      </p:pic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3957BF73-1C74-41B9-9CD4-3B2839CADF2D}"/>
              </a:ext>
            </a:extLst>
          </p:cNvPr>
          <p:cNvSpPr txBox="1">
            <a:spLocks/>
          </p:cNvSpPr>
          <p:nvPr/>
        </p:nvSpPr>
        <p:spPr>
          <a:xfrm>
            <a:off x="6100144" y="4565736"/>
            <a:ext cx="5257905" cy="1939521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Voxel values are highly heterogeneous across volumes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While most of the volumes have a mean intensity below 87, out of a third of them show values up to 20k (the graph above is truncated at 1000)</a:t>
            </a:r>
          </a:p>
        </p:txBody>
      </p:sp>
    </p:spTree>
    <p:extLst>
      <p:ext uri="{BB962C8B-B14F-4D97-AF65-F5344CB8AC3E}">
        <p14:creationId xmlns:p14="http://schemas.microsoft.com/office/powerpoint/2010/main" val="17218416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6F7DE-AA6E-0ABC-8C8D-568037C32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D39BA134-7C88-648D-46A8-81050350B3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9580" y="352743"/>
            <a:ext cx="11292839" cy="1068961"/>
          </a:xfrm>
        </p:spPr>
        <p:txBody>
          <a:bodyPr>
            <a:normAutofit/>
          </a:bodyPr>
          <a:lstStyle/>
          <a:p>
            <a:r>
              <a:rPr lang="en-US" dirty="0"/>
              <a:t>Exploratory data analysis (2)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4B2BCAA-B9E4-E3B1-D681-825B40A53D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434" y="1589611"/>
            <a:ext cx="4461865" cy="344441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3741CA3-DA14-6F60-7962-6BC78CA364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2649" y="1589612"/>
            <a:ext cx="4461866" cy="3396782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A777B-307B-3D00-4974-7451993645B1}"/>
              </a:ext>
            </a:extLst>
          </p:cNvPr>
          <p:cNvSpPr txBox="1">
            <a:spLocks/>
          </p:cNvSpPr>
          <p:nvPr/>
        </p:nvSpPr>
        <p:spPr>
          <a:xfrm>
            <a:off x="986434" y="5034025"/>
            <a:ext cx="4885150" cy="1574838"/>
          </a:xfrm>
          <a:prstGeom prst="rect">
            <a:avLst/>
          </a:prstGeom>
          <a:noFill/>
        </p:spPr>
        <p:txBody>
          <a:bodyPr>
            <a:normAutofit fontScale="925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Variability in volume dimensions is shown, especially along Y and Z axes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Even if the majority of volumes highlight a shape centered towards 188 x 256 x 256, </a:t>
            </a:r>
            <a:r>
              <a:rPr lang="en-US" b="1" dirty="0"/>
              <a:t>heavy right tails</a:t>
            </a:r>
            <a:r>
              <a:rPr lang="en-US" dirty="0"/>
              <a:t> up to 1008 voxels (Y and Z dim) are detected</a:t>
            </a:r>
          </a:p>
          <a:p>
            <a:pPr marL="324000" lvl="1" indent="0">
              <a:buNone/>
            </a:pPr>
            <a:endParaRPr lang="en-US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706D3F8C-8A18-90DB-851B-516F389B3558}"/>
              </a:ext>
            </a:extLst>
          </p:cNvPr>
          <p:cNvSpPr txBox="1">
            <a:spLocks/>
          </p:cNvSpPr>
          <p:nvPr/>
        </p:nvSpPr>
        <p:spPr>
          <a:xfrm>
            <a:off x="6095999" y="5034025"/>
            <a:ext cx="4885150" cy="1574838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Volumes tend to share a common spatial resolution along axes (1mm x 1mm x 1mm)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Anisotropic</a:t>
            </a:r>
            <a:r>
              <a:rPr lang="en-US" dirty="0"/>
              <a:t> resolutions are shown as well: extreme cases reveal voxel sizes up to 6 mm</a:t>
            </a:r>
          </a:p>
          <a:p>
            <a:pPr marL="3240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99709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E1BC6A-F9EA-6B66-4579-12C27667A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30">
            <a:extLst>
              <a:ext uri="{FF2B5EF4-FFF2-40B4-BE49-F238E27FC236}">
                <a16:creationId xmlns:a16="http://schemas.microsoft.com/office/drawing/2014/main" id="{7D84F1A4-3142-5A0A-213E-75DB142B9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150" y="1888272"/>
            <a:ext cx="3672970" cy="2125911"/>
          </a:xfrm>
        </p:spPr>
        <p:txBody>
          <a:bodyPr/>
          <a:lstStyle/>
          <a:p>
            <a:pPr algn="ctr"/>
            <a:r>
              <a:rPr lang="en-US" dirty="0"/>
              <a:t>Project workflow</a:t>
            </a: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AFC9849E-731E-D411-0D76-A98355D6710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6081" r="6081"/>
          <a:stretch>
            <a:fillRect/>
          </a:stretch>
        </p:blipFill>
        <p:spPr>
          <a:custGeom>
            <a:avLst/>
            <a:gdLst>
              <a:gd name="connsiteX0" fmla="*/ 3803282 w 7497880"/>
              <a:gd name="connsiteY0" fmla="*/ 0 h 5687344"/>
              <a:gd name="connsiteX1" fmla="*/ 7497880 w 7497880"/>
              <a:gd name="connsiteY1" fmla="*/ 0 h 5687344"/>
              <a:gd name="connsiteX2" fmla="*/ 7497880 w 7497880"/>
              <a:gd name="connsiteY2" fmla="*/ 4581885 h 5687344"/>
              <a:gd name="connsiteX3" fmla="*/ 3803282 w 7497880"/>
              <a:gd name="connsiteY3" fmla="*/ 4581885 h 5687344"/>
              <a:gd name="connsiteX4" fmla="*/ 0 w 7497880"/>
              <a:gd name="connsiteY4" fmla="*/ 0 h 5687344"/>
              <a:gd name="connsiteX5" fmla="*/ 3699373 w 7497880"/>
              <a:gd name="connsiteY5" fmla="*/ 0 h 5687344"/>
              <a:gd name="connsiteX6" fmla="*/ 3699373 w 7497880"/>
              <a:gd name="connsiteY6" fmla="*/ 4581885 h 5687344"/>
              <a:gd name="connsiteX7" fmla="*/ 2 w 7497880"/>
              <a:gd name="connsiteY7" fmla="*/ 4581885 h 5687344"/>
              <a:gd name="connsiteX8" fmla="*/ 2 w 7497880"/>
              <a:gd name="connsiteY8" fmla="*/ 4679200 h 5687344"/>
              <a:gd name="connsiteX9" fmla="*/ 3699373 w 7497880"/>
              <a:gd name="connsiteY9" fmla="*/ 4679200 h 5687344"/>
              <a:gd name="connsiteX10" fmla="*/ 3699373 w 7497880"/>
              <a:gd name="connsiteY10" fmla="*/ 5679350 h 5687344"/>
              <a:gd name="connsiteX11" fmla="*/ 3803282 w 7497880"/>
              <a:gd name="connsiteY11" fmla="*/ 5679350 h 5687344"/>
              <a:gd name="connsiteX12" fmla="*/ 3803282 w 7497880"/>
              <a:gd name="connsiteY12" fmla="*/ 4679200 h 5687344"/>
              <a:gd name="connsiteX13" fmla="*/ 7497880 w 7497880"/>
              <a:gd name="connsiteY13" fmla="*/ 4679200 h 5687344"/>
              <a:gd name="connsiteX14" fmla="*/ 7497880 w 7497880"/>
              <a:gd name="connsiteY14" fmla="*/ 5687344 h 5687344"/>
              <a:gd name="connsiteX15" fmla="*/ 0 w 7497880"/>
              <a:gd name="connsiteY15" fmla="*/ 5687344 h 5687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497880" h="5687344">
                <a:moveTo>
                  <a:pt x="3803282" y="0"/>
                </a:moveTo>
                <a:lnTo>
                  <a:pt x="7497880" y="0"/>
                </a:lnTo>
                <a:lnTo>
                  <a:pt x="7497880" y="4581885"/>
                </a:lnTo>
                <a:lnTo>
                  <a:pt x="3803282" y="4581885"/>
                </a:lnTo>
                <a:close/>
                <a:moveTo>
                  <a:pt x="0" y="0"/>
                </a:moveTo>
                <a:lnTo>
                  <a:pt x="3699373" y="0"/>
                </a:lnTo>
                <a:lnTo>
                  <a:pt x="3699373" y="4581885"/>
                </a:lnTo>
                <a:lnTo>
                  <a:pt x="2" y="4581885"/>
                </a:lnTo>
                <a:lnTo>
                  <a:pt x="2" y="4679200"/>
                </a:lnTo>
                <a:lnTo>
                  <a:pt x="3699373" y="4679200"/>
                </a:lnTo>
                <a:lnTo>
                  <a:pt x="3699373" y="5679350"/>
                </a:lnTo>
                <a:lnTo>
                  <a:pt x="3803282" y="5679350"/>
                </a:lnTo>
                <a:lnTo>
                  <a:pt x="3803282" y="4679200"/>
                </a:lnTo>
                <a:lnTo>
                  <a:pt x="7497880" y="4679200"/>
                </a:lnTo>
                <a:lnTo>
                  <a:pt x="7497880" y="5687344"/>
                </a:lnTo>
                <a:lnTo>
                  <a:pt x="0" y="5687344"/>
                </a:lnTo>
                <a:close/>
              </a:path>
            </a:pathLst>
          </a:custGeom>
          <a:solidFill>
            <a:srgbClr val="E6C46D"/>
          </a:solidFill>
        </p:spPr>
      </p:pic>
    </p:spTree>
    <p:extLst>
      <p:ext uri="{BB962C8B-B14F-4D97-AF65-F5344CB8AC3E}">
        <p14:creationId xmlns:p14="http://schemas.microsoft.com/office/powerpoint/2010/main" val="40491527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8017D95E-53A8-299D-E729-14266734C7D3}"/>
              </a:ext>
            </a:extLst>
          </p:cNvPr>
          <p:cNvSpPr/>
          <p:nvPr/>
        </p:nvSpPr>
        <p:spPr>
          <a:xfrm>
            <a:off x="8385096" y="3590829"/>
            <a:ext cx="1480344" cy="25717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Voxel values across volumes are transformed into </a:t>
            </a:r>
            <a:r>
              <a:rPr lang="en-US" sz="1400" b="1" dirty="0">
                <a:solidFill>
                  <a:schemeClr val="bg2">
                    <a:lumMod val="50000"/>
                  </a:schemeClr>
                </a:solidFill>
              </a:rPr>
              <a:t>z-scores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8A125D1-AF3A-0DC1-2A54-59EB066AC4CD}"/>
              </a:ext>
            </a:extLst>
          </p:cNvPr>
          <p:cNvSpPr/>
          <p:nvPr/>
        </p:nvSpPr>
        <p:spPr>
          <a:xfrm>
            <a:off x="6643286" y="3590829"/>
            <a:ext cx="1480344" cy="25717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chemeClr val="bg2">
                    <a:lumMod val="50000"/>
                  </a:schemeClr>
                </a:solidFill>
              </a:rPr>
              <a:t>Unnecessary background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is removed to preserve anatomical context (max margin = 10 voxels)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75D5292-915F-A885-9527-EE9733AF1CB5}"/>
              </a:ext>
            </a:extLst>
          </p:cNvPr>
          <p:cNvSpPr/>
          <p:nvPr/>
        </p:nvSpPr>
        <p:spPr>
          <a:xfrm>
            <a:off x="4961838" y="3590829"/>
            <a:ext cx="1428750" cy="25717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Volumes are resampled to a homogeneous </a:t>
            </a:r>
            <a:r>
              <a:rPr lang="en-US" sz="1400" b="1" dirty="0">
                <a:solidFill>
                  <a:schemeClr val="bg2">
                    <a:lumMod val="50000"/>
                  </a:schemeClr>
                </a:solidFill>
              </a:rPr>
              <a:t>voxel space of 1mm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per dimension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FA8B95F-928C-2B36-BEF9-6FDE297BF3E3}"/>
              </a:ext>
            </a:extLst>
          </p:cNvPr>
          <p:cNvSpPr/>
          <p:nvPr/>
        </p:nvSpPr>
        <p:spPr>
          <a:xfrm>
            <a:off x="3258165" y="3590829"/>
            <a:ext cx="1450975" cy="25717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All brain volumes are aligned to </a:t>
            </a:r>
            <a:r>
              <a:rPr lang="en-US" sz="1400" b="1" dirty="0">
                <a:solidFill>
                  <a:schemeClr val="bg2">
                    <a:lumMod val="50000"/>
                  </a:schemeClr>
                </a:solidFill>
              </a:rPr>
              <a:t>RAS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 orientation space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F9592E0-D1E3-40A8-B398-4022F5F3C83E}"/>
              </a:ext>
            </a:extLst>
          </p:cNvPr>
          <p:cNvSpPr/>
          <p:nvPr/>
        </p:nvSpPr>
        <p:spPr>
          <a:xfrm>
            <a:off x="1648617" y="3590829"/>
            <a:ext cx="1450975" cy="25717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Volumes with max/min </a:t>
            </a:r>
            <a:r>
              <a:rPr lang="en-US" sz="1400" b="1" dirty="0">
                <a:solidFill>
                  <a:schemeClr val="bg2">
                    <a:lumMod val="50000"/>
                  </a:schemeClr>
                </a:solidFill>
              </a:rPr>
              <a:t>zoom ratio greater than 1.5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are considered as anisotropic</a:t>
            </a:r>
          </a:p>
          <a:p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136 out of 1453 are discarded 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D0862EDC-79D3-89ED-38EC-958E05D5628F}"/>
              </a:ext>
            </a:extLst>
          </p:cNvPr>
          <p:cNvSpPr/>
          <p:nvPr/>
        </p:nvSpPr>
        <p:spPr>
          <a:xfrm>
            <a:off x="1612900" y="2536824"/>
            <a:ext cx="8492331" cy="1228433"/>
          </a:xfrm>
          <a:prstGeom prst="roundRect">
            <a:avLst/>
          </a:prstGeom>
          <a:solidFill>
            <a:srgbClr val="CCCC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Parallelogram 3">
            <a:extLst>
              <a:ext uri="{FF2B5EF4-FFF2-40B4-BE49-F238E27FC236}">
                <a16:creationId xmlns:a16="http://schemas.microsoft.com/office/drawing/2014/main" id="{1A3F7FDC-3571-A500-0D16-BE574968AE08}"/>
              </a:ext>
            </a:extLst>
          </p:cNvPr>
          <p:cNvSpPr/>
          <p:nvPr/>
        </p:nvSpPr>
        <p:spPr>
          <a:xfrm>
            <a:off x="1679673" y="2762250"/>
            <a:ext cx="1428750" cy="762000"/>
          </a:xfrm>
          <a:prstGeom prst="parallelogram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Dataset cleaning</a:t>
            </a:r>
          </a:p>
        </p:txBody>
      </p:sp>
      <p:sp>
        <p:nvSpPr>
          <p:cNvPr id="9" name="Parallelogram 8">
            <a:extLst>
              <a:ext uri="{FF2B5EF4-FFF2-40B4-BE49-F238E27FC236}">
                <a16:creationId xmlns:a16="http://schemas.microsoft.com/office/drawing/2014/main" id="{1F139D3F-3215-FD9E-9BC7-87F62C5A1CFB}"/>
              </a:ext>
            </a:extLst>
          </p:cNvPr>
          <p:cNvSpPr/>
          <p:nvPr/>
        </p:nvSpPr>
        <p:spPr>
          <a:xfrm>
            <a:off x="3320755" y="2762250"/>
            <a:ext cx="1428750" cy="762000"/>
          </a:xfrm>
          <a:prstGeom prst="parallelogram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Orientation space normalization</a:t>
            </a:r>
          </a:p>
        </p:txBody>
      </p:sp>
      <p:sp>
        <p:nvSpPr>
          <p:cNvPr id="11" name="Parallelogram 10">
            <a:extLst>
              <a:ext uri="{FF2B5EF4-FFF2-40B4-BE49-F238E27FC236}">
                <a16:creationId xmlns:a16="http://schemas.microsoft.com/office/drawing/2014/main" id="{9FD8CA88-F530-E2B9-F9C6-47520599A9D4}"/>
              </a:ext>
            </a:extLst>
          </p:cNvPr>
          <p:cNvSpPr/>
          <p:nvPr/>
        </p:nvSpPr>
        <p:spPr>
          <a:xfrm>
            <a:off x="4961838" y="2762250"/>
            <a:ext cx="1428750" cy="762000"/>
          </a:xfrm>
          <a:prstGeom prst="parallelogram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Pixel space normalization</a:t>
            </a:r>
          </a:p>
        </p:txBody>
      </p:sp>
      <p:sp>
        <p:nvSpPr>
          <p:cNvPr id="13" name="Parallelogram 12">
            <a:extLst>
              <a:ext uri="{FF2B5EF4-FFF2-40B4-BE49-F238E27FC236}">
                <a16:creationId xmlns:a16="http://schemas.microsoft.com/office/drawing/2014/main" id="{91F84383-0B59-E108-0A17-CA167B2A5569}"/>
              </a:ext>
            </a:extLst>
          </p:cNvPr>
          <p:cNvSpPr/>
          <p:nvPr/>
        </p:nvSpPr>
        <p:spPr>
          <a:xfrm>
            <a:off x="6673467" y="2755781"/>
            <a:ext cx="1428750" cy="762000"/>
          </a:xfrm>
          <a:prstGeom prst="parallelogram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Foreground cropping</a:t>
            </a:r>
          </a:p>
        </p:txBody>
      </p:sp>
      <p:sp>
        <p:nvSpPr>
          <p:cNvPr id="15" name="Parallelogram 14">
            <a:extLst>
              <a:ext uri="{FF2B5EF4-FFF2-40B4-BE49-F238E27FC236}">
                <a16:creationId xmlns:a16="http://schemas.microsoft.com/office/drawing/2014/main" id="{D78E4F48-F647-49BC-1382-9DBBFC9074CE}"/>
              </a:ext>
            </a:extLst>
          </p:cNvPr>
          <p:cNvSpPr/>
          <p:nvPr/>
        </p:nvSpPr>
        <p:spPr>
          <a:xfrm>
            <a:off x="8385096" y="2755781"/>
            <a:ext cx="1428750" cy="762000"/>
          </a:xfrm>
          <a:prstGeom prst="parallelogram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Intensity normalization</a:t>
            </a:r>
          </a:p>
        </p:txBody>
      </p:sp>
      <p:sp>
        <p:nvSpPr>
          <p:cNvPr id="36" name="Parallelogram 35">
            <a:extLst>
              <a:ext uri="{FF2B5EF4-FFF2-40B4-BE49-F238E27FC236}">
                <a16:creationId xmlns:a16="http://schemas.microsoft.com/office/drawing/2014/main" id="{C7EFD75B-4072-4A27-11C0-A6EE1BBE387F}"/>
              </a:ext>
            </a:extLst>
          </p:cNvPr>
          <p:cNvSpPr/>
          <p:nvPr/>
        </p:nvSpPr>
        <p:spPr>
          <a:xfrm>
            <a:off x="35426" y="2749550"/>
            <a:ext cx="1215676" cy="762000"/>
          </a:xfrm>
          <a:prstGeom prst="parallelogram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Raw data</a:t>
            </a:r>
          </a:p>
        </p:txBody>
      </p:sp>
      <p:sp>
        <p:nvSpPr>
          <p:cNvPr id="38" name="Parallelogram 37">
            <a:extLst>
              <a:ext uri="{FF2B5EF4-FFF2-40B4-BE49-F238E27FC236}">
                <a16:creationId xmlns:a16="http://schemas.microsoft.com/office/drawing/2014/main" id="{633B071D-298E-DEC8-D332-6F02F5819E15}"/>
              </a:ext>
            </a:extLst>
          </p:cNvPr>
          <p:cNvSpPr/>
          <p:nvPr/>
        </p:nvSpPr>
        <p:spPr>
          <a:xfrm>
            <a:off x="10453687" y="2749550"/>
            <a:ext cx="1584324" cy="762000"/>
          </a:xfrm>
          <a:prstGeom prst="parallelogram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Preprocessed data</a:t>
            </a:r>
          </a:p>
        </p:txBody>
      </p:sp>
      <p:sp>
        <p:nvSpPr>
          <p:cNvPr id="42" name="Title 1">
            <a:extLst>
              <a:ext uri="{FF2B5EF4-FFF2-40B4-BE49-F238E27FC236}">
                <a16:creationId xmlns:a16="http://schemas.microsoft.com/office/drawing/2014/main" id="{CD629814-5E16-2C5F-563E-A1F970BB0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26740" y="95727"/>
            <a:ext cx="9264649" cy="938530"/>
          </a:xfrm>
        </p:spPr>
        <p:txBody>
          <a:bodyPr/>
          <a:lstStyle/>
          <a:p>
            <a:r>
              <a:rPr lang="en-US" sz="2800" dirty="0"/>
              <a:t>DETERMINISTIC preprocessing STEPS</a:t>
            </a: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C116E495-D86A-9724-8F7B-1B6FC39A94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6267" y="781724"/>
            <a:ext cx="1038429" cy="1501616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F3CEE33B-7B65-A6D8-1C42-DAB08C93AD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5815" y="1114583"/>
            <a:ext cx="1071731" cy="1501617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0D3AE2B5-F68B-0940-FF1F-E6AD43D3E6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2453" y="1198538"/>
            <a:ext cx="613797" cy="1139082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7EA85472-B4EE-11B8-5D8B-F0C0291417A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880" y="1468238"/>
            <a:ext cx="816166" cy="1124744"/>
          </a:xfrm>
          <a:prstGeom prst="rect">
            <a:avLst/>
          </a:prstGeom>
        </p:spPr>
      </p:pic>
      <p:sp>
        <p:nvSpPr>
          <p:cNvPr id="60" name="Arrow: Curved Right 59">
            <a:extLst>
              <a:ext uri="{FF2B5EF4-FFF2-40B4-BE49-F238E27FC236}">
                <a16:creationId xmlns:a16="http://schemas.microsoft.com/office/drawing/2014/main" id="{0681B8F4-0122-D31B-CDAD-2EBC4AC303D1}"/>
              </a:ext>
            </a:extLst>
          </p:cNvPr>
          <p:cNvSpPr/>
          <p:nvPr/>
        </p:nvSpPr>
        <p:spPr>
          <a:xfrm rot="17797009">
            <a:off x="3517243" y="2076366"/>
            <a:ext cx="144541" cy="339261"/>
          </a:xfrm>
          <a:prstGeom prst="curv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2" name="Arrow: Curved Right 61">
            <a:extLst>
              <a:ext uri="{FF2B5EF4-FFF2-40B4-BE49-F238E27FC236}">
                <a16:creationId xmlns:a16="http://schemas.microsoft.com/office/drawing/2014/main" id="{A92D642A-F583-3ACC-5766-EAA31B2A05EA}"/>
              </a:ext>
            </a:extLst>
          </p:cNvPr>
          <p:cNvSpPr/>
          <p:nvPr/>
        </p:nvSpPr>
        <p:spPr>
          <a:xfrm rot="17797009">
            <a:off x="5292994" y="2207710"/>
            <a:ext cx="154145" cy="339261"/>
          </a:xfrm>
          <a:prstGeom prst="curv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64" name="Picture 63">
            <a:extLst>
              <a:ext uri="{FF2B5EF4-FFF2-40B4-BE49-F238E27FC236}">
                <a16:creationId xmlns:a16="http://schemas.microsoft.com/office/drawing/2014/main" id="{832F3940-7210-9BD7-56FF-EE23B9A30AF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30461" y="1399090"/>
            <a:ext cx="750817" cy="855688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F6B266B4-3D0B-3088-C446-8F6C3998665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02278" y="1730736"/>
            <a:ext cx="621541" cy="791507"/>
          </a:xfrm>
          <a:prstGeom prst="rect">
            <a:avLst/>
          </a:prstGeom>
        </p:spPr>
      </p:pic>
      <p:sp>
        <p:nvSpPr>
          <p:cNvPr id="68" name="Arrow: Curved Right 67">
            <a:extLst>
              <a:ext uri="{FF2B5EF4-FFF2-40B4-BE49-F238E27FC236}">
                <a16:creationId xmlns:a16="http://schemas.microsoft.com/office/drawing/2014/main" id="{99422F4B-12AA-D5CF-A15E-3350B0A80FAA}"/>
              </a:ext>
            </a:extLst>
          </p:cNvPr>
          <p:cNvSpPr/>
          <p:nvPr/>
        </p:nvSpPr>
        <p:spPr>
          <a:xfrm rot="17797009">
            <a:off x="7081424" y="2244633"/>
            <a:ext cx="154145" cy="339261"/>
          </a:xfrm>
          <a:prstGeom prst="curv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70" name="Picture 69">
            <a:extLst>
              <a:ext uri="{FF2B5EF4-FFF2-40B4-BE49-F238E27FC236}">
                <a16:creationId xmlns:a16="http://schemas.microsoft.com/office/drawing/2014/main" id="{29EA13E3-FEC6-7CD0-F389-51590969E7C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66621" y="1009650"/>
            <a:ext cx="939112" cy="1290637"/>
          </a:xfrm>
          <a:prstGeom prst="rect">
            <a:avLst/>
          </a:prstGeom>
        </p:spPr>
      </p:pic>
      <p:pic>
        <p:nvPicPr>
          <p:cNvPr id="74" name="Picture 73">
            <a:extLst>
              <a:ext uri="{FF2B5EF4-FFF2-40B4-BE49-F238E27FC236}">
                <a16:creationId xmlns:a16="http://schemas.microsoft.com/office/drawing/2014/main" id="{B20B43FA-B16E-2A0C-B5B2-BE3231AED38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99471" y="1593115"/>
            <a:ext cx="786664" cy="909637"/>
          </a:xfrm>
          <a:prstGeom prst="rect">
            <a:avLst/>
          </a:prstGeom>
        </p:spPr>
      </p:pic>
      <p:sp>
        <p:nvSpPr>
          <p:cNvPr id="76" name="Arrow: Curved Right 75">
            <a:extLst>
              <a:ext uri="{FF2B5EF4-FFF2-40B4-BE49-F238E27FC236}">
                <a16:creationId xmlns:a16="http://schemas.microsoft.com/office/drawing/2014/main" id="{24820C6D-0B66-5D83-59F2-C369CA9D212E}"/>
              </a:ext>
            </a:extLst>
          </p:cNvPr>
          <p:cNvSpPr/>
          <p:nvPr/>
        </p:nvSpPr>
        <p:spPr>
          <a:xfrm rot="17797009">
            <a:off x="8877354" y="2154146"/>
            <a:ext cx="154145" cy="339261"/>
          </a:xfrm>
          <a:prstGeom prst="curv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7" name="Arrow: Right 76">
            <a:extLst>
              <a:ext uri="{FF2B5EF4-FFF2-40B4-BE49-F238E27FC236}">
                <a16:creationId xmlns:a16="http://schemas.microsoft.com/office/drawing/2014/main" id="{8E4BAB60-F5BC-D749-4A5D-3FFA1F3CD8F5}"/>
              </a:ext>
            </a:extLst>
          </p:cNvPr>
          <p:cNvSpPr/>
          <p:nvPr/>
        </p:nvSpPr>
        <p:spPr>
          <a:xfrm>
            <a:off x="1269603" y="3065315"/>
            <a:ext cx="280195" cy="171450"/>
          </a:xfrm>
          <a:prstGeom prst="rightArrow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Arrow: Right 78">
            <a:extLst>
              <a:ext uri="{FF2B5EF4-FFF2-40B4-BE49-F238E27FC236}">
                <a16:creationId xmlns:a16="http://schemas.microsoft.com/office/drawing/2014/main" id="{F2F26BF4-5FF7-935D-41A3-DB5D55474F47}"/>
              </a:ext>
            </a:extLst>
          </p:cNvPr>
          <p:cNvSpPr/>
          <p:nvPr/>
        </p:nvSpPr>
        <p:spPr>
          <a:xfrm>
            <a:off x="10153648" y="3065315"/>
            <a:ext cx="280195" cy="171450"/>
          </a:xfrm>
          <a:prstGeom prst="rightArrow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1953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C5D8A8-3BF9-F805-008B-796B1E722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Rectangle 120">
            <a:extLst>
              <a:ext uri="{FF2B5EF4-FFF2-40B4-BE49-F238E27FC236}">
                <a16:creationId xmlns:a16="http://schemas.microsoft.com/office/drawing/2014/main" id="{960D02D1-1B7C-5902-7C58-6F007BC5B630}"/>
              </a:ext>
            </a:extLst>
          </p:cNvPr>
          <p:cNvSpPr/>
          <p:nvPr/>
        </p:nvSpPr>
        <p:spPr>
          <a:xfrm>
            <a:off x="2266952" y="4185842"/>
            <a:ext cx="1784348" cy="10341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2">
                    <a:lumMod val="50000"/>
                  </a:schemeClr>
                </a:solidFill>
              </a:rPr>
              <a:t>train: 80%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 err="1">
                <a:solidFill>
                  <a:schemeClr val="bg2">
                    <a:lumMod val="50000"/>
                  </a:schemeClr>
                </a:solidFill>
              </a:rPr>
              <a:t>val</a:t>
            </a:r>
            <a:r>
              <a:rPr lang="en-US" sz="1100" dirty="0">
                <a:solidFill>
                  <a:schemeClr val="bg2">
                    <a:lumMod val="50000"/>
                  </a:schemeClr>
                </a:solidFill>
              </a:rPr>
              <a:t>: 10%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2">
                    <a:lumMod val="50000"/>
                  </a:schemeClr>
                </a:solidFill>
              </a:rPr>
              <a:t>test: 10%</a:t>
            </a:r>
          </a:p>
          <a:p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Parallelogram 3">
            <a:extLst>
              <a:ext uri="{FF2B5EF4-FFF2-40B4-BE49-F238E27FC236}">
                <a16:creationId xmlns:a16="http://schemas.microsoft.com/office/drawing/2014/main" id="{40E190B0-559B-DEF2-4E77-F0420E290F14}"/>
              </a:ext>
            </a:extLst>
          </p:cNvPr>
          <p:cNvSpPr/>
          <p:nvPr/>
        </p:nvSpPr>
        <p:spPr>
          <a:xfrm>
            <a:off x="4872860" y="2358015"/>
            <a:ext cx="1428750" cy="762000"/>
          </a:xfrm>
          <a:prstGeom prst="parallelogram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Random cropping</a:t>
            </a:r>
          </a:p>
        </p:txBody>
      </p:sp>
      <p:sp>
        <p:nvSpPr>
          <p:cNvPr id="38" name="Parallelogram 37">
            <a:extLst>
              <a:ext uri="{FF2B5EF4-FFF2-40B4-BE49-F238E27FC236}">
                <a16:creationId xmlns:a16="http://schemas.microsoft.com/office/drawing/2014/main" id="{3D449C02-C12A-E522-3BBD-352B4B269407}"/>
              </a:ext>
            </a:extLst>
          </p:cNvPr>
          <p:cNvSpPr/>
          <p:nvPr/>
        </p:nvSpPr>
        <p:spPr>
          <a:xfrm>
            <a:off x="138459" y="4321929"/>
            <a:ext cx="1584324" cy="762000"/>
          </a:xfrm>
          <a:prstGeom prst="parallelogram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Preprocessed data</a:t>
            </a:r>
          </a:p>
        </p:txBody>
      </p:sp>
      <p:sp>
        <p:nvSpPr>
          <p:cNvPr id="42" name="Title 1">
            <a:extLst>
              <a:ext uri="{FF2B5EF4-FFF2-40B4-BE49-F238E27FC236}">
                <a16:creationId xmlns:a16="http://schemas.microsoft.com/office/drawing/2014/main" id="{652A0FCA-F8D2-1967-56E2-8B43DDC82E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26740" y="165234"/>
            <a:ext cx="9264649" cy="938530"/>
          </a:xfrm>
        </p:spPr>
        <p:txBody>
          <a:bodyPr/>
          <a:lstStyle/>
          <a:p>
            <a:r>
              <a:rPr lang="en-US" sz="2800" dirty="0"/>
              <a:t>NET DATA PREPARATION &amp; MODEL INPUT</a:t>
            </a:r>
          </a:p>
        </p:txBody>
      </p:sp>
      <p:sp>
        <p:nvSpPr>
          <p:cNvPr id="17" name="Parallelogram 16">
            <a:extLst>
              <a:ext uri="{FF2B5EF4-FFF2-40B4-BE49-F238E27FC236}">
                <a16:creationId xmlns:a16="http://schemas.microsoft.com/office/drawing/2014/main" id="{467DD7EE-7359-41F7-E99C-7FCCA8E615C6}"/>
              </a:ext>
            </a:extLst>
          </p:cNvPr>
          <p:cNvSpPr/>
          <p:nvPr/>
        </p:nvSpPr>
        <p:spPr>
          <a:xfrm>
            <a:off x="2368963" y="5665506"/>
            <a:ext cx="1584324" cy="762000"/>
          </a:xfrm>
          <a:prstGeom prst="parallelogram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bg1"/>
                </a:solidFill>
              </a:rPr>
              <a:t>val</a:t>
            </a:r>
            <a:r>
              <a:rPr lang="en-US" sz="1400" dirty="0">
                <a:solidFill>
                  <a:schemeClr val="bg1"/>
                </a:solidFill>
              </a:rPr>
              <a:t>/test data</a:t>
            </a:r>
          </a:p>
        </p:txBody>
      </p:sp>
      <p:sp>
        <p:nvSpPr>
          <p:cNvPr id="24" name="Parallelogram 23">
            <a:extLst>
              <a:ext uri="{FF2B5EF4-FFF2-40B4-BE49-F238E27FC236}">
                <a16:creationId xmlns:a16="http://schemas.microsoft.com/office/drawing/2014/main" id="{A6A24DCF-9885-84C1-D5B9-836C3CA6983D}"/>
              </a:ext>
            </a:extLst>
          </p:cNvPr>
          <p:cNvSpPr/>
          <p:nvPr/>
        </p:nvSpPr>
        <p:spPr>
          <a:xfrm>
            <a:off x="2368963" y="2368900"/>
            <a:ext cx="1584324" cy="762000"/>
          </a:xfrm>
          <a:prstGeom prst="parallelogram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train data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DBE5F5E-DCCF-27CB-7FB2-F3FFC6BC7097}"/>
              </a:ext>
            </a:extLst>
          </p:cNvPr>
          <p:cNvSpPr/>
          <p:nvPr/>
        </p:nvSpPr>
        <p:spPr>
          <a:xfrm>
            <a:off x="4510919" y="3114452"/>
            <a:ext cx="2189932" cy="14189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2">
                    <a:lumMod val="50000"/>
                  </a:schemeClr>
                </a:solidFill>
              </a:rPr>
              <a:t>Random </a:t>
            </a:r>
            <a:r>
              <a:rPr lang="en-US" sz="1100" b="1" dirty="0">
                <a:solidFill>
                  <a:schemeClr val="bg2">
                    <a:lumMod val="50000"/>
                  </a:schemeClr>
                </a:solidFill>
              </a:rPr>
              <a:t>extraction of 3D patches</a:t>
            </a:r>
            <a:r>
              <a:rPr lang="en-US" sz="1100" dirty="0">
                <a:solidFill>
                  <a:schemeClr val="bg2">
                    <a:lumMod val="50000"/>
                  </a:schemeClr>
                </a:solidFill>
              </a:rPr>
              <a:t> (128×128×64 voxels) from images for memory </a:t>
            </a:r>
            <a:r>
              <a:rPr lang="en-US" sz="1100" dirty="0" err="1">
                <a:solidFill>
                  <a:schemeClr val="bg2">
                    <a:lumMod val="50000"/>
                  </a:schemeClr>
                </a:solidFill>
              </a:rPr>
              <a:t>porpouses</a:t>
            </a:r>
            <a:endParaRPr lang="en-US" sz="1100" dirty="0">
              <a:solidFill>
                <a:schemeClr val="bg2">
                  <a:lumMod val="50000"/>
                </a:schemeClr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2">
                    <a:lumMod val="50000"/>
                  </a:schemeClr>
                </a:solidFill>
              </a:rPr>
              <a:t>1:1 positive-to-negative ratio is taken into account to increase representation of target regions.</a:t>
            </a:r>
          </a:p>
        </p:txBody>
      </p:sp>
      <p:sp>
        <p:nvSpPr>
          <p:cNvPr id="53" name="Parallelogram 52">
            <a:extLst>
              <a:ext uri="{FF2B5EF4-FFF2-40B4-BE49-F238E27FC236}">
                <a16:creationId xmlns:a16="http://schemas.microsoft.com/office/drawing/2014/main" id="{E82A2873-EBEF-CD31-592D-575EA100AFCB}"/>
              </a:ext>
            </a:extLst>
          </p:cNvPr>
          <p:cNvSpPr/>
          <p:nvPr/>
        </p:nvSpPr>
        <p:spPr>
          <a:xfrm>
            <a:off x="8824094" y="3739431"/>
            <a:ext cx="1997885" cy="1109979"/>
          </a:xfrm>
          <a:prstGeom prst="parallelogram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U-NET training loop</a:t>
            </a: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E5BAEE51-2A0B-2A21-58CF-50F280B302A1}"/>
              </a:ext>
            </a:extLst>
          </p:cNvPr>
          <p:cNvSpPr/>
          <p:nvPr/>
        </p:nvSpPr>
        <p:spPr>
          <a:xfrm>
            <a:off x="2368963" y="4228575"/>
            <a:ext cx="1584324" cy="431637"/>
          </a:xfrm>
          <a:prstGeom prst="roundRect">
            <a:avLst/>
          </a:prstGeom>
          <a:solidFill>
            <a:srgbClr val="969FA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Train/</a:t>
            </a:r>
            <a:r>
              <a:rPr lang="en-US" sz="1400" dirty="0" err="1"/>
              <a:t>val</a:t>
            </a:r>
            <a:r>
              <a:rPr lang="en-US" sz="1400" dirty="0"/>
              <a:t>/test split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3B74D1EB-D297-8B68-4C85-DD2F3E24734F}"/>
              </a:ext>
            </a:extLst>
          </p:cNvPr>
          <p:cNvCxnSpPr>
            <a:cxnSpLocks/>
            <a:stCxn id="57" idx="0"/>
            <a:endCxn id="24" idx="4"/>
          </p:cNvCxnSpPr>
          <p:nvPr/>
        </p:nvCxnSpPr>
        <p:spPr>
          <a:xfrm flipV="1">
            <a:off x="3161125" y="3130900"/>
            <a:ext cx="0" cy="10976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E94087FF-4143-BF84-DFBD-BF8E1F1276AD}"/>
              </a:ext>
            </a:extLst>
          </p:cNvPr>
          <p:cNvCxnSpPr>
            <a:cxnSpLocks/>
            <a:endCxn id="17" idx="0"/>
          </p:cNvCxnSpPr>
          <p:nvPr/>
        </p:nvCxnSpPr>
        <p:spPr>
          <a:xfrm>
            <a:off x="3161125" y="5416550"/>
            <a:ext cx="0" cy="2489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58306E90-E602-9C9D-C1A3-75B12A4DCFBC}"/>
              </a:ext>
            </a:extLst>
          </p:cNvPr>
          <p:cNvCxnSpPr>
            <a:cxnSpLocks/>
            <a:endCxn id="121" idx="1"/>
          </p:cNvCxnSpPr>
          <p:nvPr/>
        </p:nvCxnSpPr>
        <p:spPr>
          <a:xfrm flipV="1">
            <a:off x="1657179" y="4702930"/>
            <a:ext cx="609773" cy="29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0A57EA45-8733-44A5-67BC-9411395DE54A}"/>
              </a:ext>
            </a:extLst>
          </p:cNvPr>
          <p:cNvCxnSpPr>
            <a:cxnSpLocks/>
            <a:endCxn id="4" idx="5"/>
          </p:cNvCxnSpPr>
          <p:nvPr/>
        </p:nvCxnSpPr>
        <p:spPr>
          <a:xfrm>
            <a:off x="3868371" y="2739015"/>
            <a:ext cx="109973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9" name="Picture 98">
            <a:extLst>
              <a:ext uri="{FF2B5EF4-FFF2-40B4-BE49-F238E27FC236}">
                <a16:creationId xmlns:a16="http://schemas.microsoft.com/office/drawing/2014/main" id="{7DF78F0D-612E-7A27-BB07-AE350EB10B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0437" y="2774952"/>
            <a:ext cx="1610992" cy="711895"/>
          </a:xfrm>
          <a:prstGeom prst="rect">
            <a:avLst/>
          </a:prstGeom>
        </p:spPr>
      </p:pic>
      <p:sp>
        <p:nvSpPr>
          <p:cNvPr id="101" name="Rectangle: Rounded Corners 100">
            <a:extLst>
              <a:ext uri="{FF2B5EF4-FFF2-40B4-BE49-F238E27FC236}">
                <a16:creationId xmlns:a16="http://schemas.microsoft.com/office/drawing/2014/main" id="{F895A95E-BC54-8DE1-B116-F1B560E08D2F}"/>
              </a:ext>
            </a:extLst>
          </p:cNvPr>
          <p:cNvSpPr/>
          <p:nvPr/>
        </p:nvSpPr>
        <p:spPr>
          <a:xfrm>
            <a:off x="6798864" y="5685862"/>
            <a:ext cx="1584324" cy="673819"/>
          </a:xfrm>
          <a:prstGeom prst="roundRect">
            <a:avLst/>
          </a:prstGeom>
          <a:solidFill>
            <a:srgbClr val="969FA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val</a:t>
            </a:r>
            <a:r>
              <a:rPr lang="en-US" sz="1400" dirty="0"/>
              <a:t>/test data loader building</a:t>
            </a:r>
          </a:p>
        </p:txBody>
      </p:sp>
      <p:sp>
        <p:nvSpPr>
          <p:cNvPr id="103" name="Rectangle: Rounded Corners 102">
            <a:extLst>
              <a:ext uri="{FF2B5EF4-FFF2-40B4-BE49-F238E27FC236}">
                <a16:creationId xmlns:a16="http://schemas.microsoft.com/office/drawing/2014/main" id="{BB5B6607-7042-953D-4683-B5F922C12B4F}"/>
              </a:ext>
            </a:extLst>
          </p:cNvPr>
          <p:cNvSpPr/>
          <p:nvPr/>
        </p:nvSpPr>
        <p:spPr>
          <a:xfrm>
            <a:off x="6798864" y="2402105"/>
            <a:ext cx="1584324" cy="673819"/>
          </a:xfrm>
          <a:prstGeom prst="roundRect">
            <a:avLst/>
          </a:prstGeom>
          <a:solidFill>
            <a:srgbClr val="969FA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train data loader building</a:t>
            </a:r>
          </a:p>
        </p:txBody>
      </p: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86983314-1820-B309-9A97-9AA5B0D96F6A}"/>
              </a:ext>
            </a:extLst>
          </p:cNvPr>
          <p:cNvCxnSpPr>
            <a:cxnSpLocks/>
            <a:endCxn id="103" idx="1"/>
          </p:cNvCxnSpPr>
          <p:nvPr/>
        </p:nvCxnSpPr>
        <p:spPr>
          <a:xfrm flipV="1">
            <a:off x="6248994" y="2739015"/>
            <a:ext cx="549870" cy="48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1E726E05-6710-77A0-D1B9-A5897B69FBEA}"/>
              </a:ext>
            </a:extLst>
          </p:cNvPr>
          <p:cNvCxnSpPr>
            <a:cxnSpLocks/>
            <a:stCxn id="17" idx="2"/>
            <a:endCxn id="101" idx="1"/>
          </p:cNvCxnSpPr>
          <p:nvPr/>
        </p:nvCxnSpPr>
        <p:spPr>
          <a:xfrm flipV="1">
            <a:off x="3858037" y="6022772"/>
            <a:ext cx="2940827" cy="237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: Elbow 113">
            <a:extLst>
              <a:ext uri="{FF2B5EF4-FFF2-40B4-BE49-F238E27FC236}">
                <a16:creationId xmlns:a16="http://schemas.microsoft.com/office/drawing/2014/main" id="{12723689-F6E5-3C99-BAC5-6733123C3AED}"/>
              </a:ext>
            </a:extLst>
          </p:cNvPr>
          <p:cNvCxnSpPr>
            <a:stCxn id="101" idx="0"/>
            <a:endCxn id="53" idx="5"/>
          </p:cNvCxnSpPr>
          <p:nvPr/>
        </p:nvCxnSpPr>
        <p:spPr>
          <a:xfrm rot="5400000" flipH="1" flipV="1">
            <a:off x="7581213" y="4304235"/>
            <a:ext cx="1391441" cy="137181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: Elbow 115">
            <a:extLst>
              <a:ext uri="{FF2B5EF4-FFF2-40B4-BE49-F238E27FC236}">
                <a16:creationId xmlns:a16="http://schemas.microsoft.com/office/drawing/2014/main" id="{0225CEA6-F534-658B-4422-005EAF3DDEF1}"/>
              </a:ext>
            </a:extLst>
          </p:cNvPr>
          <p:cNvCxnSpPr>
            <a:cxnSpLocks/>
          </p:cNvCxnSpPr>
          <p:nvPr/>
        </p:nvCxnSpPr>
        <p:spPr>
          <a:xfrm rot="16200000" flipH="1">
            <a:off x="7667684" y="2999265"/>
            <a:ext cx="1218497" cy="137181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8" name="Picture 127">
            <a:extLst>
              <a:ext uri="{FF2B5EF4-FFF2-40B4-BE49-F238E27FC236}">
                <a16:creationId xmlns:a16="http://schemas.microsoft.com/office/drawing/2014/main" id="{3C018D5C-C1C7-3A54-2367-C75A36B448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2780" y="1125132"/>
            <a:ext cx="1096214" cy="1206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2211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D68E536F-AEEF-CBBA-5914-4652585EEBF0}"/>
              </a:ext>
            </a:extLst>
          </p:cNvPr>
          <p:cNvSpPr/>
          <p:nvPr/>
        </p:nvSpPr>
        <p:spPr>
          <a:xfrm>
            <a:off x="5226050" y="1416049"/>
            <a:ext cx="6743700" cy="52855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Single Corner Snipped 7">
            <a:extLst>
              <a:ext uri="{FF2B5EF4-FFF2-40B4-BE49-F238E27FC236}">
                <a16:creationId xmlns:a16="http://schemas.microsoft.com/office/drawing/2014/main" id="{C91880F7-7C0C-F770-70A6-401FCF918D75}"/>
              </a:ext>
            </a:extLst>
          </p:cNvPr>
          <p:cNvSpPr/>
          <p:nvPr/>
        </p:nvSpPr>
        <p:spPr>
          <a:xfrm flipH="1">
            <a:off x="5600700" y="2301875"/>
            <a:ext cx="1854200" cy="501650"/>
          </a:xfrm>
          <a:prstGeom prst="snip1Rect">
            <a:avLst>
              <a:gd name="adj" fmla="val 50000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Encoder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02AAF7D-E1D7-A741-262C-987409B6BC6E}"/>
              </a:ext>
            </a:extLst>
          </p:cNvPr>
          <p:cNvSpPr/>
          <p:nvPr/>
        </p:nvSpPr>
        <p:spPr>
          <a:xfrm>
            <a:off x="5899150" y="2921000"/>
            <a:ext cx="1854200" cy="501650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Encod block1</a:t>
            </a:r>
          </a:p>
          <a:p>
            <a:pPr algn="ctr"/>
            <a:r>
              <a:rPr lang="en-US" sz="1100" dirty="0"/>
              <a:t>32 filters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75E5EE0-BD3E-7559-9119-2AFD14CCB78B}"/>
              </a:ext>
            </a:extLst>
          </p:cNvPr>
          <p:cNvSpPr/>
          <p:nvPr/>
        </p:nvSpPr>
        <p:spPr>
          <a:xfrm>
            <a:off x="6318250" y="3460750"/>
            <a:ext cx="1854200" cy="501650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r>
              <a:rPr lang="en-US" dirty="0"/>
              <a:t>Encod block 2</a:t>
            </a:r>
          </a:p>
          <a:p>
            <a:pPr algn="ctr"/>
            <a:r>
              <a:rPr lang="en-US" sz="1100" dirty="0"/>
              <a:t>64 filters</a:t>
            </a:r>
          </a:p>
          <a:p>
            <a:pPr algn="ctr"/>
            <a:endParaRPr lang="en-US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C22E278-1556-7A88-4E43-BF6AEBB3429E}"/>
              </a:ext>
            </a:extLst>
          </p:cNvPr>
          <p:cNvSpPr/>
          <p:nvPr/>
        </p:nvSpPr>
        <p:spPr>
          <a:xfrm>
            <a:off x="6591300" y="4000500"/>
            <a:ext cx="1854200" cy="501650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Encod block3</a:t>
            </a:r>
          </a:p>
          <a:p>
            <a:pPr algn="ctr"/>
            <a:r>
              <a:rPr lang="en-US" sz="1100" dirty="0"/>
              <a:t>128 filters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E2BD86C-542B-D18C-9B33-8C334B880982}"/>
              </a:ext>
            </a:extLst>
          </p:cNvPr>
          <p:cNvSpPr/>
          <p:nvPr/>
        </p:nvSpPr>
        <p:spPr>
          <a:xfrm>
            <a:off x="6826250" y="4540250"/>
            <a:ext cx="1854200" cy="501650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Encod block 4</a:t>
            </a:r>
          </a:p>
          <a:p>
            <a:pPr algn="ctr"/>
            <a:r>
              <a:rPr lang="en-US" sz="1100" dirty="0"/>
              <a:t>256 filters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C8A30C8-9EB6-FFAD-F935-7FFA98758988}"/>
              </a:ext>
            </a:extLst>
          </p:cNvPr>
          <p:cNvSpPr/>
          <p:nvPr/>
        </p:nvSpPr>
        <p:spPr>
          <a:xfrm>
            <a:off x="7677150" y="5080000"/>
            <a:ext cx="1854200" cy="501650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Bottleneck</a:t>
            </a:r>
          </a:p>
          <a:p>
            <a:pPr algn="ctr"/>
            <a:r>
              <a:rPr lang="en-US" sz="1100" dirty="0"/>
              <a:t>512 filters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E6509D80-8E4E-5913-35D8-BE6588E27E32}"/>
              </a:ext>
            </a:extLst>
          </p:cNvPr>
          <p:cNvSpPr/>
          <p:nvPr/>
        </p:nvSpPr>
        <p:spPr>
          <a:xfrm>
            <a:off x="8769350" y="4540250"/>
            <a:ext cx="1854200" cy="501650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Decod</a:t>
            </a:r>
            <a:r>
              <a:rPr lang="en-US" dirty="0"/>
              <a:t> block 4</a:t>
            </a:r>
          </a:p>
          <a:p>
            <a:pPr algn="ctr"/>
            <a:r>
              <a:rPr lang="en-US" sz="1100" dirty="0"/>
              <a:t>Skip conn, 256 filters</a:t>
            </a:r>
          </a:p>
        </p:txBody>
      </p:sp>
      <p:sp>
        <p:nvSpPr>
          <p:cNvPr id="21" name="Rectangle: Single Corner Snipped 20">
            <a:extLst>
              <a:ext uri="{FF2B5EF4-FFF2-40B4-BE49-F238E27FC236}">
                <a16:creationId xmlns:a16="http://schemas.microsoft.com/office/drawing/2014/main" id="{E0A21C48-402F-6478-CC0B-1B287F0B76EC}"/>
              </a:ext>
            </a:extLst>
          </p:cNvPr>
          <p:cNvSpPr/>
          <p:nvPr/>
        </p:nvSpPr>
        <p:spPr>
          <a:xfrm>
            <a:off x="9988550" y="2301875"/>
            <a:ext cx="1854200" cy="501650"/>
          </a:xfrm>
          <a:prstGeom prst="snip1Rect">
            <a:avLst>
              <a:gd name="adj" fmla="val 5000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Decoder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92EDC5E5-F6CD-C982-C1AA-AA84CBA960FD}"/>
              </a:ext>
            </a:extLst>
          </p:cNvPr>
          <p:cNvSpPr/>
          <p:nvPr/>
        </p:nvSpPr>
        <p:spPr>
          <a:xfrm>
            <a:off x="8997950" y="4000500"/>
            <a:ext cx="1854200" cy="501650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Decod</a:t>
            </a:r>
            <a:r>
              <a:rPr lang="en-US" dirty="0"/>
              <a:t> block 3</a:t>
            </a:r>
          </a:p>
          <a:p>
            <a:pPr algn="ctr"/>
            <a:r>
              <a:rPr lang="en-US" sz="1100" dirty="0"/>
              <a:t>Skip conn, 128 filters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A64F1A1A-6988-6267-61B3-9481D15DC20B}"/>
              </a:ext>
            </a:extLst>
          </p:cNvPr>
          <p:cNvSpPr/>
          <p:nvPr/>
        </p:nvSpPr>
        <p:spPr>
          <a:xfrm>
            <a:off x="9359900" y="3460750"/>
            <a:ext cx="1854200" cy="501650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Decod</a:t>
            </a:r>
            <a:r>
              <a:rPr lang="en-US" dirty="0"/>
              <a:t> block 2</a:t>
            </a:r>
          </a:p>
          <a:p>
            <a:pPr algn="ctr"/>
            <a:r>
              <a:rPr lang="en-US" sz="1100" dirty="0"/>
              <a:t>Skip conn, 64 filters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B6E52219-91E9-7D54-5F3E-29DA4A84D011}"/>
              </a:ext>
            </a:extLst>
          </p:cNvPr>
          <p:cNvSpPr/>
          <p:nvPr/>
        </p:nvSpPr>
        <p:spPr>
          <a:xfrm>
            <a:off x="9709150" y="2921000"/>
            <a:ext cx="1854200" cy="501650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Decod</a:t>
            </a:r>
            <a:r>
              <a:rPr lang="en-US" dirty="0"/>
              <a:t> block 1</a:t>
            </a:r>
          </a:p>
          <a:p>
            <a:pPr algn="ctr"/>
            <a:r>
              <a:rPr lang="en-US" sz="1100" dirty="0"/>
              <a:t>Skip conn, 32 filters</a:t>
            </a:r>
          </a:p>
        </p:txBody>
      </p:sp>
      <p:graphicFrame>
        <p:nvGraphicFramePr>
          <p:cNvPr id="28" name="Table Placeholder 3">
            <a:extLst>
              <a:ext uri="{FF2B5EF4-FFF2-40B4-BE49-F238E27FC236}">
                <a16:creationId xmlns:a16="http://schemas.microsoft.com/office/drawing/2014/main" id="{D75F9337-569D-812F-8F1B-AAF989624FF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60713607"/>
              </p:ext>
            </p:extLst>
          </p:nvPr>
        </p:nvGraphicFramePr>
        <p:xfrm>
          <a:off x="273050" y="3817295"/>
          <a:ext cx="3835400" cy="2884296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257744">
                  <a:extLst>
                    <a:ext uri="{9D8B030D-6E8A-4147-A177-3AD203B41FA5}">
                      <a16:colId xmlns:a16="http://schemas.microsoft.com/office/drawing/2014/main" val="2331295822"/>
                    </a:ext>
                  </a:extLst>
                </a:gridCol>
                <a:gridCol w="1257744">
                  <a:extLst>
                    <a:ext uri="{9D8B030D-6E8A-4147-A177-3AD203B41FA5}">
                      <a16:colId xmlns:a16="http://schemas.microsoft.com/office/drawing/2014/main" val="2382218087"/>
                    </a:ext>
                  </a:extLst>
                </a:gridCol>
                <a:gridCol w="1319912">
                  <a:extLst>
                    <a:ext uri="{9D8B030D-6E8A-4147-A177-3AD203B41FA5}">
                      <a16:colId xmlns:a16="http://schemas.microsoft.com/office/drawing/2014/main" val="3953468724"/>
                    </a:ext>
                  </a:extLst>
                </a:gridCol>
              </a:tblGrid>
              <a:tr h="25981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Object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Parameter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Value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7107962"/>
                  </a:ext>
                </a:extLst>
              </a:tr>
              <a:tr h="271623">
                <a:tc rowSpan="4"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Model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Feature maps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32,64,128,256,512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1386868"/>
                  </a:ext>
                </a:extLst>
              </a:tr>
              <a:tr h="259817">
                <a:tc vMerge="1"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Strides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2,2,2,2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626418"/>
                  </a:ext>
                </a:extLst>
              </a:tr>
              <a:tr h="259817">
                <a:tc vMerge="1"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Residual units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32482967"/>
                  </a:ext>
                </a:extLst>
              </a:tr>
              <a:tr h="259817">
                <a:tc vMerge="1"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Dropout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0.2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6251906"/>
                  </a:ext>
                </a:extLst>
              </a:tr>
              <a:tr h="259817">
                <a:tc rowSpan="3"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Optimizer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err="1"/>
                        <a:t>AdamW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5212545"/>
                  </a:ext>
                </a:extLst>
              </a:tr>
              <a:tr h="259817">
                <a:tc vMerge="1"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Learning rate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0.001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03029904"/>
                  </a:ext>
                </a:extLst>
              </a:tr>
              <a:tr h="259817">
                <a:tc vMerge="1"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Weight decay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0.0001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4254644"/>
                  </a:ext>
                </a:extLst>
              </a:tr>
              <a:tr h="259817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Loss function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err="1"/>
                        <a:t>DiceCELoss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432507"/>
                  </a:ext>
                </a:extLst>
              </a:tr>
              <a:tr h="259817">
                <a:tc rowSpan="2"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Training loop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Epochs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5028472"/>
                  </a:ext>
                </a:extLst>
              </a:tr>
              <a:tr h="259817">
                <a:tc vMerge="1"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Batch size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9364762"/>
                  </a:ext>
                </a:extLst>
              </a:tr>
            </a:tbl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9BCBB3D1-E2CD-B292-0D73-01E299EA50EC}"/>
              </a:ext>
            </a:extLst>
          </p:cNvPr>
          <p:cNvSpPr txBox="1"/>
          <p:nvPr/>
        </p:nvSpPr>
        <p:spPr>
          <a:xfrm>
            <a:off x="7188200" y="1708150"/>
            <a:ext cx="2971800" cy="369332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U-NET architecture</a:t>
            </a: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60DBCD0E-DBBD-9095-EF35-317929532D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3675" y="156409"/>
            <a:ext cx="9264649" cy="938530"/>
          </a:xfrm>
        </p:spPr>
        <p:txBody>
          <a:bodyPr/>
          <a:lstStyle/>
          <a:p>
            <a:pPr algn="ctr"/>
            <a:r>
              <a:rPr lang="en-US" sz="2800" dirty="0"/>
              <a:t>MODEL SPECIFICATION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FA0F3E9-5BED-ED49-9275-712A560D7053}"/>
              </a:ext>
            </a:extLst>
          </p:cNvPr>
          <p:cNvSpPr txBox="1"/>
          <p:nvPr/>
        </p:nvSpPr>
        <p:spPr>
          <a:xfrm>
            <a:off x="5600700" y="2882900"/>
            <a:ext cx="3937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(*)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83AE2D1-8791-E9B4-11F3-791395241A3B}"/>
              </a:ext>
            </a:extLst>
          </p:cNvPr>
          <p:cNvSpPr txBox="1"/>
          <p:nvPr/>
        </p:nvSpPr>
        <p:spPr>
          <a:xfrm>
            <a:off x="539750" y="1297801"/>
            <a:ext cx="3937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(*)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ECEC1321-8A2B-46EB-9C74-2F312D6BAB21}"/>
              </a:ext>
            </a:extLst>
          </p:cNvPr>
          <p:cNvSpPr/>
          <p:nvPr/>
        </p:nvSpPr>
        <p:spPr>
          <a:xfrm>
            <a:off x="933450" y="1358900"/>
            <a:ext cx="2279650" cy="4711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Conv 3D</a:t>
            </a:r>
          </a:p>
          <a:p>
            <a:pPr algn="ctr"/>
            <a:r>
              <a:rPr lang="en-US" sz="1050" dirty="0"/>
              <a:t>kernel size (3,3,3)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2F59A19B-476F-A485-6E4E-1C280A346F04}"/>
              </a:ext>
            </a:extLst>
          </p:cNvPr>
          <p:cNvSpPr/>
          <p:nvPr/>
        </p:nvSpPr>
        <p:spPr>
          <a:xfrm>
            <a:off x="933450" y="2206625"/>
            <a:ext cx="2279650" cy="3937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Dropout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4C715843-FE40-A2C3-6A6A-04AFF8C9A9D0}"/>
              </a:ext>
            </a:extLst>
          </p:cNvPr>
          <p:cNvSpPr/>
          <p:nvPr/>
        </p:nvSpPr>
        <p:spPr>
          <a:xfrm>
            <a:off x="933450" y="1816100"/>
            <a:ext cx="2279650" cy="3937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Feature map norm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9D62BDE9-EDA6-6C3C-E4C4-E27E4B2E4E32}"/>
              </a:ext>
            </a:extLst>
          </p:cNvPr>
          <p:cNvSpPr/>
          <p:nvPr/>
        </p:nvSpPr>
        <p:spPr>
          <a:xfrm>
            <a:off x="933450" y="2597150"/>
            <a:ext cx="2279650" cy="3937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PReLU</a:t>
            </a:r>
            <a:endParaRPr lang="en-US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84785C-1917-7F06-FC0F-26F5812F0548}"/>
              </a:ext>
            </a:extLst>
          </p:cNvPr>
          <p:cNvSpPr txBox="1"/>
          <p:nvPr/>
        </p:nvSpPr>
        <p:spPr>
          <a:xfrm>
            <a:off x="641350" y="2962701"/>
            <a:ext cx="30035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/>
              <a:t>Single residual unit blocks: after the 3D </a:t>
            </a:r>
            <a:r>
              <a:rPr lang="en-US" sz="1200" i="1" dirty="0" err="1"/>
              <a:t>convolution,values</a:t>
            </a:r>
            <a:r>
              <a:rPr lang="en-US" sz="1200" i="1" dirty="0"/>
              <a:t> of each single feature map are normalized. Dropout of rate 0.2 is performed and eventually a non linearity function is applied</a:t>
            </a:r>
          </a:p>
        </p:txBody>
      </p:sp>
    </p:spTree>
    <p:extLst>
      <p:ext uri="{BB962C8B-B14F-4D97-AF65-F5344CB8AC3E}">
        <p14:creationId xmlns:p14="http://schemas.microsoft.com/office/powerpoint/2010/main" val="16053062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E6C8E6EB-4C59-429B-97E4-72A058CFC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5B90362-AFCC-46A9-B41C-A257A8C5B3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71EF7F1-38BA-471D-8CD4-2A9AE8E35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0524398-BFB4-4C4A-8317-83B8729F9B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D6D7A0BC-0046-4CAA-8E7F-DCAFE511EA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FF0FD1A0-C075-EE18-B3AE-363C242D0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092" y="-7707"/>
            <a:ext cx="10993549" cy="147501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dirty="0"/>
              <a:t>TRAINING PERFORMANCE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7C6334F-6411-41EC-AD7D-179EDD8B5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6B02CEE-3AF8-4349-9B3E-8970E6DF62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AA01CF0-3FB5-44EB-B7DE-F2E86374C2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693C5D6-1BF7-217B-9098-F18569A7A9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800" y="1506097"/>
            <a:ext cx="11728450" cy="3423240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0A37067-EDE4-9CAA-34BC-A4A0858AE2FC}"/>
              </a:ext>
            </a:extLst>
          </p:cNvPr>
          <p:cNvSpPr/>
          <p:nvPr/>
        </p:nvSpPr>
        <p:spPr>
          <a:xfrm>
            <a:off x="736600" y="5194300"/>
            <a:ext cx="11008866" cy="104775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b="1" dirty="0">
                <a:solidFill>
                  <a:schemeClr val="bg2">
                    <a:lumMod val="50000"/>
                  </a:schemeClr>
                </a:solidFill>
              </a:rPr>
              <a:t>Training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 and </a:t>
            </a:r>
            <a:r>
              <a:rPr lang="en-US" sz="1400" b="1" dirty="0">
                <a:solidFill>
                  <a:schemeClr val="bg2">
                    <a:lumMod val="50000"/>
                  </a:schemeClr>
                </a:solidFill>
              </a:rPr>
              <a:t>validation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1400" b="1" dirty="0">
                <a:solidFill>
                  <a:schemeClr val="bg2">
                    <a:lumMod val="50000"/>
                  </a:schemeClr>
                </a:solidFill>
              </a:rPr>
              <a:t>losses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 decrease across epochs, suggesting convergence achievement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b="1" dirty="0">
                <a:solidFill>
                  <a:schemeClr val="bg2">
                    <a:lumMod val="50000"/>
                  </a:schemeClr>
                </a:solidFill>
              </a:rPr>
              <a:t>Evaluation metric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 improves in a quite overlapping behavior between train and validation set, suggesting the absence of overfitting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The highest evaluation metric score is </a:t>
            </a:r>
            <a:r>
              <a:rPr lang="en-US" sz="1400" b="1" dirty="0">
                <a:solidFill>
                  <a:schemeClr val="bg2">
                    <a:lumMod val="50000"/>
                  </a:schemeClr>
                </a:solidFill>
              </a:rPr>
              <a:t>0.60</a:t>
            </a:r>
          </a:p>
        </p:txBody>
      </p:sp>
    </p:spTree>
    <p:extLst>
      <p:ext uri="{BB962C8B-B14F-4D97-AF65-F5344CB8AC3E}">
        <p14:creationId xmlns:p14="http://schemas.microsoft.com/office/powerpoint/2010/main" val="8374022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EBA544F6-BF8C-2C87-3906-146BEDB4C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Navigating Q&amp;A sessions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A5FD2B-E3E5-1C2B-0151-21F216B14A33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noFill/>
        </p:spPr>
        <p:txBody>
          <a:bodyPr>
            <a:normAutofit/>
          </a:bodyPr>
          <a:lstStyle/>
          <a:p>
            <a:r>
              <a:rPr lang="en-US" dirty="0"/>
              <a:t>Know your material in advance</a:t>
            </a:r>
          </a:p>
          <a:p>
            <a:r>
              <a:rPr lang="en-US" dirty="0"/>
              <a:t>Anticipate common questions</a:t>
            </a:r>
          </a:p>
          <a:p>
            <a:r>
              <a:rPr lang="en-US" dirty="0"/>
              <a:t>Rehearse your responses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FBB810-3430-2C29-1AA0-9744AA0A1A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noFill/>
        </p:spPr>
        <p:txBody>
          <a:bodyPr>
            <a:normAutofit/>
          </a:bodyPr>
          <a:lstStyle/>
          <a:p>
            <a:r>
              <a:rPr lang="en-US" dirty="0"/>
              <a:t>Maintaining composure during the Q&amp;A session is essential for projecting confidence and authority. Consider the following tips for staying composed:</a:t>
            </a:r>
          </a:p>
          <a:p>
            <a:pPr lvl="1"/>
            <a:r>
              <a:rPr lang="en-US" dirty="0"/>
              <a:t>Stay calm</a:t>
            </a:r>
          </a:p>
          <a:p>
            <a:pPr lvl="1"/>
            <a:r>
              <a:rPr lang="en-US" dirty="0"/>
              <a:t>Actively listen</a:t>
            </a:r>
          </a:p>
          <a:p>
            <a:pPr lvl="1"/>
            <a:r>
              <a:rPr lang="en-US" dirty="0"/>
              <a:t>Pause and reflect</a:t>
            </a:r>
          </a:p>
          <a:p>
            <a:pPr lvl="1"/>
            <a:r>
              <a:rPr lang="en-US" dirty="0"/>
              <a:t>Maintain eye contact</a:t>
            </a:r>
          </a:p>
        </p:txBody>
      </p:sp>
    </p:spTree>
    <p:extLst>
      <p:ext uri="{BB962C8B-B14F-4D97-AF65-F5344CB8AC3E}">
        <p14:creationId xmlns:p14="http://schemas.microsoft.com/office/powerpoint/2010/main" val="26769054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29">
            <a:extLst>
              <a:ext uri="{FF2B5EF4-FFF2-40B4-BE49-F238E27FC236}">
                <a16:creationId xmlns:a16="http://schemas.microsoft.com/office/drawing/2014/main" id="{6A93E959-E68D-08C8-9C1E-5A318B3EF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delivery</a:t>
            </a:r>
          </a:p>
        </p:txBody>
      </p:sp>
      <p:sp>
        <p:nvSpPr>
          <p:cNvPr id="24" name="Content Placeholder 23">
            <a:extLst>
              <a:ext uri="{FF2B5EF4-FFF2-40B4-BE49-F238E27FC236}">
                <a16:creationId xmlns:a16="http://schemas.microsoft.com/office/drawing/2014/main" id="{4C1675C6-9CE1-3D87-365F-B3DB1F59CE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7040" y="2236788"/>
            <a:ext cx="3342640" cy="3992880"/>
          </a:xfrm>
        </p:spPr>
        <p:txBody>
          <a:bodyPr/>
          <a:lstStyle/>
          <a:p>
            <a:r>
              <a:rPr lang="en-US" dirty="0"/>
              <a:t>Learn to infuse energy into your delivery to leave a lasting impression</a:t>
            </a:r>
          </a:p>
          <a:p>
            <a:r>
              <a:rPr lang="en-US" dirty="0"/>
              <a:t>One of the goals of effective communication is to motivate your audience</a:t>
            </a:r>
          </a:p>
        </p:txBody>
      </p:sp>
      <p:graphicFrame>
        <p:nvGraphicFramePr>
          <p:cNvPr id="17" name="Table Placeholder 3">
            <a:extLst>
              <a:ext uri="{FF2B5EF4-FFF2-40B4-BE49-F238E27FC236}">
                <a16:creationId xmlns:a16="http://schemas.microsoft.com/office/drawing/2014/main" id="{8A222178-BDA0-1F26-F788-4610ADCDC64A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3484645028"/>
              </p:ext>
            </p:extLst>
          </p:nvPr>
        </p:nvGraphicFramePr>
        <p:xfrm>
          <a:off x="4237038" y="2236788"/>
          <a:ext cx="7493924" cy="3969602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873481">
                  <a:extLst>
                    <a:ext uri="{9D8B030D-6E8A-4147-A177-3AD203B41FA5}">
                      <a16:colId xmlns:a16="http://schemas.microsoft.com/office/drawing/2014/main" val="2382218087"/>
                    </a:ext>
                  </a:extLst>
                </a:gridCol>
                <a:gridCol w="1966082">
                  <a:extLst>
                    <a:ext uri="{9D8B030D-6E8A-4147-A177-3AD203B41FA5}">
                      <a16:colId xmlns:a16="http://schemas.microsoft.com/office/drawing/2014/main" val="3953468724"/>
                    </a:ext>
                  </a:extLst>
                </a:gridCol>
                <a:gridCol w="1780880">
                  <a:extLst>
                    <a:ext uri="{9D8B030D-6E8A-4147-A177-3AD203B41FA5}">
                      <a16:colId xmlns:a16="http://schemas.microsoft.com/office/drawing/2014/main" val="4277526474"/>
                    </a:ext>
                  </a:extLst>
                </a:gridCol>
                <a:gridCol w="1873481">
                  <a:extLst>
                    <a:ext uri="{9D8B030D-6E8A-4147-A177-3AD203B41FA5}">
                      <a16:colId xmlns:a16="http://schemas.microsoft.com/office/drawing/2014/main" val="2438884888"/>
                    </a:ext>
                  </a:extLst>
                </a:gridCol>
              </a:tblGrid>
              <a:tr h="58761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Impact factor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Measurement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Target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Achieved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7107962"/>
                  </a:ext>
                </a:extLst>
              </a:tr>
              <a:tr h="67639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Audience interaction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1386868"/>
                  </a:ext>
                </a:extLst>
              </a:tr>
              <a:tr h="67639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Knowledge retention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626418"/>
                  </a:ext>
                </a:extLst>
              </a:tr>
              <a:tr h="67639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Post-presentation surveys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Average rating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2482967"/>
                  </a:ext>
                </a:extLst>
              </a:tr>
              <a:tr h="67639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Referral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6251906"/>
                  </a:ext>
                </a:extLst>
              </a:tr>
              <a:tr h="67639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Collaboration opportunities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# of opportunities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85371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99771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332C6-AEE4-A451-A3C8-7C2C8E2A5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tips and takeaways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8443D9-BCAD-2F33-9DE7-54605EFCC26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Consistent rehearsal</a:t>
            </a:r>
          </a:p>
          <a:p>
            <a:pPr lvl="1"/>
            <a:r>
              <a:rPr lang="en-US" dirty="0"/>
              <a:t>Strengthen your familiarity</a:t>
            </a:r>
          </a:p>
          <a:p>
            <a:r>
              <a:rPr lang="en-US" dirty="0"/>
              <a:t>Refine delivery style</a:t>
            </a:r>
          </a:p>
          <a:p>
            <a:pPr lvl="1"/>
            <a:r>
              <a:rPr lang="en-US" dirty="0"/>
              <a:t>Pacing, tone, and emphasis</a:t>
            </a:r>
          </a:p>
          <a:p>
            <a:r>
              <a:rPr lang="en-US" dirty="0"/>
              <a:t>Timing and transitions</a:t>
            </a:r>
          </a:p>
          <a:p>
            <a:pPr lvl="1"/>
            <a:r>
              <a:rPr lang="en-US" dirty="0"/>
              <a:t>Aim for seamless, professional delivery</a:t>
            </a:r>
          </a:p>
          <a:p>
            <a:r>
              <a:rPr lang="en-US" dirty="0"/>
              <a:t>Practice audience</a:t>
            </a:r>
          </a:p>
          <a:p>
            <a:pPr lvl="1"/>
            <a:r>
              <a:rPr lang="en-US" dirty="0"/>
              <a:t>Enlist colleagues to listen &amp; provide feedback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1D2219-E3DF-929F-48CC-5C470A21A177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en-US" dirty="0"/>
              <a:t>Seek feedback</a:t>
            </a:r>
          </a:p>
          <a:p>
            <a:r>
              <a:rPr lang="en-US" dirty="0"/>
              <a:t>Reflect on performance</a:t>
            </a:r>
          </a:p>
          <a:p>
            <a:r>
              <a:rPr lang="en-US" dirty="0"/>
              <a:t>Explore new techniques</a:t>
            </a:r>
          </a:p>
          <a:p>
            <a:r>
              <a:rPr lang="en-US" dirty="0"/>
              <a:t>Set personal goals</a:t>
            </a:r>
          </a:p>
          <a:p>
            <a:r>
              <a:rPr lang="en-US" dirty="0"/>
              <a:t>Iterate and adapt</a:t>
            </a:r>
          </a:p>
        </p:txBody>
      </p:sp>
    </p:spTree>
    <p:extLst>
      <p:ext uri="{BB962C8B-B14F-4D97-AF65-F5344CB8AC3E}">
        <p14:creationId xmlns:p14="http://schemas.microsoft.com/office/powerpoint/2010/main" val="3704795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2D7F0B11-5AF3-1D12-4201-C1E09DF7D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Speaking engagement metrics</a:t>
            </a:r>
          </a:p>
        </p:txBody>
      </p:sp>
      <p:graphicFrame>
        <p:nvGraphicFramePr>
          <p:cNvPr id="12" name="Table Placeholder 3">
            <a:extLst>
              <a:ext uri="{FF2B5EF4-FFF2-40B4-BE49-F238E27FC236}">
                <a16:creationId xmlns:a16="http://schemas.microsoft.com/office/drawing/2014/main" id="{EF0D1DE7-CAB7-B879-750A-7167B6155FF7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3708368100"/>
              </p:ext>
            </p:extLst>
          </p:nvPr>
        </p:nvGraphicFramePr>
        <p:xfrm>
          <a:off x="457200" y="2235200"/>
          <a:ext cx="11301156" cy="3969606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3002874">
                  <a:extLst>
                    <a:ext uri="{9D8B030D-6E8A-4147-A177-3AD203B41FA5}">
                      <a16:colId xmlns:a16="http://schemas.microsoft.com/office/drawing/2014/main" val="2382218087"/>
                    </a:ext>
                  </a:extLst>
                </a:gridCol>
                <a:gridCol w="2647704">
                  <a:extLst>
                    <a:ext uri="{9D8B030D-6E8A-4147-A177-3AD203B41FA5}">
                      <a16:colId xmlns:a16="http://schemas.microsoft.com/office/drawing/2014/main" val="3953468724"/>
                    </a:ext>
                  </a:extLst>
                </a:gridCol>
                <a:gridCol w="2825289">
                  <a:extLst>
                    <a:ext uri="{9D8B030D-6E8A-4147-A177-3AD203B41FA5}">
                      <a16:colId xmlns:a16="http://schemas.microsoft.com/office/drawing/2014/main" val="4277526474"/>
                    </a:ext>
                  </a:extLst>
                </a:gridCol>
                <a:gridCol w="2825289">
                  <a:extLst>
                    <a:ext uri="{9D8B030D-6E8A-4147-A177-3AD203B41FA5}">
                      <a16:colId xmlns:a16="http://schemas.microsoft.com/office/drawing/2014/main" val="2438884888"/>
                    </a:ext>
                  </a:extLst>
                </a:gridCol>
              </a:tblGrid>
              <a:tr h="66160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Impact factor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Measurement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Target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Achieved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7107962"/>
                  </a:ext>
                </a:extLst>
              </a:tr>
              <a:tr h="66160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Audience interaction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1386868"/>
                  </a:ext>
                </a:extLst>
              </a:tr>
              <a:tr h="66160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Knowledge retention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626418"/>
                  </a:ext>
                </a:extLst>
              </a:tr>
              <a:tr h="66160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Post-presentation surveys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Average rating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2482967"/>
                  </a:ext>
                </a:extLst>
              </a:tr>
              <a:tr h="66160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Referral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6251906"/>
                  </a:ext>
                </a:extLst>
              </a:tr>
              <a:tr h="66160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Collaboration opportunities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# of opportunities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85371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46306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30">
            <a:extLst>
              <a:ext uri="{FF2B5EF4-FFF2-40B4-BE49-F238E27FC236}">
                <a16:creationId xmlns:a16="http://schemas.microsoft.com/office/drawing/2014/main" id="{B045D6AF-532B-394C-0C6F-38B6628CE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59B25D-9615-9332-C32E-4F458417E11E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Brita Tamm</a:t>
            </a:r>
          </a:p>
          <a:p>
            <a:r>
              <a:rPr lang="en-US" dirty="0"/>
              <a:t>502-555-0152</a:t>
            </a:r>
          </a:p>
          <a:p>
            <a:r>
              <a:rPr lang="en-US" dirty="0"/>
              <a:t>brita@firstupconsultants.com</a:t>
            </a:r>
          </a:p>
          <a:p>
            <a:r>
              <a:rPr lang="en-US" dirty="0"/>
              <a:t>www.firstupconsultants.com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5A2ECFE2-C2B6-18B8-2668-85378DF231C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16797" r="16797"/>
          <a:stretch>
            <a:fillRect/>
          </a:stretch>
        </p:blipFill>
        <p:spPr>
          <a:custGeom>
            <a:avLst/>
            <a:gdLst>
              <a:gd name="connsiteX0" fmla="*/ 3803282 w 7497880"/>
              <a:gd name="connsiteY0" fmla="*/ 0 h 5687344"/>
              <a:gd name="connsiteX1" fmla="*/ 7497880 w 7497880"/>
              <a:gd name="connsiteY1" fmla="*/ 0 h 5687344"/>
              <a:gd name="connsiteX2" fmla="*/ 7497880 w 7497880"/>
              <a:gd name="connsiteY2" fmla="*/ 4581885 h 5687344"/>
              <a:gd name="connsiteX3" fmla="*/ 3803282 w 7497880"/>
              <a:gd name="connsiteY3" fmla="*/ 4581885 h 5687344"/>
              <a:gd name="connsiteX4" fmla="*/ 0 w 7497880"/>
              <a:gd name="connsiteY4" fmla="*/ 0 h 5687344"/>
              <a:gd name="connsiteX5" fmla="*/ 3699373 w 7497880"/>
              <a:gd name="connsiteY5" fmla="*/ 0 h 5687344"/>
              <a:gd name="connsiteX6" fmla="*/ 3699373 w 7497880"/>
              <a:gd name="connsiteY6" fmla="*/ 4581885 h 5687344"/>
              <a:gd name="connsiteX7" fmla="*/ 2 w 7497880"/>
              <a:gd name="connsiteY7" fmla="*/ 4581885 h 5687344"/>
              <a:gd name="connsiteX8" fmla="*/ 2 w 7497880"/>
              <a:gd name="connsiteY8" fmla="*/ 4679200 h 5687344"/>
              <a:gd name="connsiteX9" fmla="*/ 3699373 w 7497880"/>
              <a:gd name="connsiteY9" fmla="*/ 4679200 h 5687344"/>
              <a:gd name="connsiteX10" fmla="*/ 3699373 w 7497880"/>
              <a:gd name="connsiteY10" fmla="*/ 5679350 h 5687344"/>
              <a:gd name="connsiteX11" fmla="*/ 3803282 w 7497880"/>
              <a:gd name="connsiteY11" fmla="*/ 5679350 h 5687344"/>
              <a:gd name="connsiteX12" fmla="*/ 3803282 w 7497880"/>
              <a:gd name="connsiteY12" fmla="*/ 4679200 h 5687344"/>
              <a:gd name="connsiteX13" fmla="*/ 7497880 w 7497880"/>
              <a:gd name="connsiteY13" fmla="*/ 4679200 h 5687344"/>
              <a:gd name="connsiteX14" fmla="*/ 7497880 w 7497880"/>
              <a:gd name="connsiteY14" fmla="*/ 5687344 h 5687344"/>
              <a:gd name="connsiteX15" fmla="*/ 0 w 7497880"/>
              <a:gd name="connsiteY15" fmla="*/ 5687344 h 5687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497880" h="5687344">
                <a:moveTo>
                  <a:pt x="3803282" y="0"/>
                </a:moveTo>
                <a:lnTo>
                  <a:pt x="7497880" y="0"/>
                </a:lnTo>
                <a:lnTo>
                  <a:pt x="7497880" y="4581885"/>
                </a:lnTo>
                <a:lnTo>
                  <a:pt x="3803282" y="4581885"/>
                </a:lnTo>
                <a:close/>
                <a:moveTo>
                  <a:pt x="0" y="0"/>
                </a:moveTo>
                <a:lnTo>
                  <a:pt x="3699373" y="0"/>
                </a:lnTo>
                <a:lnTo>
                  <a:pt x="3699373" y="4581885"/>
                </a:lnTo>
                <a:lnTo>
                  <a:pt x="2" y="4581885"/>
                </a:lnTo>
                <a:lnTo>
                  <a:pt x="2" y="4679200"/>
                </a:lnTo>
                <a:lnTo>
                  <a:pt x="3699373" y="4679200"/>
                </a:lnTo>
                <a:lnTo>
                  <a:pt x="3699373" y="5679350"/>
                </a:lnTo>
                <a:lnTo>
                  <a:pt x="3803282" y="5679350"/>
                </a:lnTo>
                <a:lnTo>
                  <a:pt x="3803282" y="4679200"/>
                </a:lnTo>
                <a:lnTo>
                  <a:pt x="7497880" y="4679200"/>
                </a:lnTo>
                <a:lnTo>
                  <a:pt x="7497880" y="5687344"/>
                </a:lnTo>
                <a:lnTo>
                  <a:pt x="0" y="5687344"/>
                </a:lnTo>
                <a:close/>
              </a:path>
            </a:pathLst>
          </a:custGeom>
          <a:solidFill>
            <a:srgbClr val="E6C46D"/>
          </a:solidFill>
        </p:spPr>
      </p:pic>
    </p:spTree>
    <p:extLst>
      <p:ext uri="{BB962C8B-B14F-4D97-AF65-F5344CB8AC3E}">
        <p14:creationId xmlns:p14="http://schemas.microsoft.com/office/powerpoint/2010/main" val="2770959368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DividendVTI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ED8428"/>
      </a:accent1>
      <a:accent2>
        <a:srgbClr val="E6C46D"/>
      </a:accent2>
      <a:accent3>
        <a:srgbClr val="537685"/>
      </a:accent3>
      <a:accent4>
        <a:srgbClr val="969FA7"/>
      </a:accent4>
      <a:accent5>
        <a:srgbClr val="A9C37C"/>
      </a:accent5>
      <a:accent6>
        <a:srgbClr val="5A8071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19D1F84C-D1FD-4B1B-9CFD-8E0D96AC4DF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037C456-A6DA-4DEE-A3FB-4EC3058FD08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A00B2AC-C335-4100-B8B3-2D9F49A7290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Dividend design</Template>
  <TotalTime>1200</TotalTime>
  <Words>978</Words>
  <Application>Microsoft Office PowerPoint</Application>
  <PresentationFormat>Widescreen</PresentationFormat>
  <Paragraphs>230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Gill Sans MT</vt:lpstr>
      <vt:lpstr>Wingdings</vt:lpstr>
      <vt:lpstr>Wingdings 2</vt:lpstr>
      <vt:lpstr>DividendVTI</vt:lpstr>
      <vt:lpstr>3D BraiN STROKE SEGMENTATION using U-NET </vt:lpstr>
      <vt:lpstr>BRAIN STROKE INTRODUCTION</vt:lpstr>
      <vt:lpstr>DATASET PRESENTATION &amp; references </vt:lpstr>
      <vt:lpstr>Exploratory data analysis (1)</vt:lpstr>
      <vt:lpstr>Exploratory data analysis (2)</vt:lpstr>
      <vt:lpstr>Project workflow</vt:lpstr>
      <vt:lpstr>DETERMINISTIC preprocessing STEPS</vt:lpstr>
      <vt:lpstr>NET DATA PREPARATION &amp; MODEL INPUT</vt:lpstr>
      <vt:lpstr>MODEL SPECIFICATION</vt:lpstr>
      <vt:lpstr>TRAINING PERFORMANCE</vt:lpstr>
      <vt:lpstr>Navigating Q&amp;A sessions</vt:lpstr>
      <vt:lpstr>Dynamic delivery</vt:lpstr>
      <vt:lpstr>Final tips and takeaways</vt:lpstr>
      <vt:lpstr>Speaking engagement metrics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m.dibiase2@campus.unimib.it</dc:creator>
  <cp:lastModifiedBy>m.dibiase2@campus.unimib.it</cp:lastModifiedBy>
  <cp:revision>19</cp:revision>
  <dcterms:created xsi:type="dcterms:W3CDTF">2026-07-11T09:46:37Z</dcterms:created>
  <dcterms:modified xsi:type="dcterms:W3CDTF">2026-07-12T18:29:41Z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